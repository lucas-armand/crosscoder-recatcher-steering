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2" roundtripDataSignature="AMtx7mgEwpJ7hL5b486aSj4LGLozX+kMX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customschemas.google.com/relationships/presentationmetadata" Target="metadata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Open with the behavioral paradox, not the architecture. The scientific question is whether a shared sparse representation can explain why the models diverge.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5" name="Google Shape;355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Representative task: BigCodeBench/668. Show the exact full outputs in the appendix/source data if challenged; the slide uses a compact excerpt. Active gate steps were 8, 113, and 152 of 251 generated-token steps.</a:t>
            </a:r>
            <a:endParaRPr/>
          </a:p>
        </p:txBody>
      </p:sp>
      <p:sp>
        <p:nvSpPr>
          <p:cNvPr id="356" name="Google Shape;356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640080" y="960120"/>
            <a:ext cx="758952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FROM MODEL DIFFS</a:t>
            </a:r>
            <a:br>
              <a:rPr b="1" i="0" lang="en-US" sz="3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3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 CAUSAL MECHANISMS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685800" y="2788920"/>
            <a:ext cx="65836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Using a CrossCoder to explain behavioral differences</a:t>
            </a:r>
            <a:br>
              <a:rPr b="0" i="0" lang="en-US" sz="200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00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between base and fine-tuned code models</a:t>
            </a:r>
            <a:endParaRPr/>
          </a:p>
        </p:txBody>
      </p:sp>
      <p:sp>
        <p:nvSpPr>
          <p:cNvPr id="90" name="Google Shape;90;p1"/>
          <p:cNvSpPr/>
          <p:nvPr/>
        </p:nvSpPr>
        <p:spPr>
          <a:xfrm>
            <a:off x="8458200" y="731520"/>
            <a:ext cx="2926080" cy="4983480"/>
          </a:xfrm>
          <a:prstGeom prst="roundRect">
            <a:avLst>
              <a:gd fmla="val 16667" name="adj"/>
            </a:avLst>
          </a:prstGeom>
          <a:solidFill>
            <a:srgbClr val="172033"/>
          </a:solidFill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8823960" y="109728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B6D4"/>
                </a:solidFill>
                <a:latin typeface="Arial"/>
                <a:ea typeface="Arial"/>
                <a:cs typeface="Arial"/>
                <a:sym typeface="Arial"/>
              </a:rPr>
              <a:t>The case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8823960" y="1554480"/>
            <a:ext cx="205740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model solved</a:t>
            </a:r>
            <a:br>
              <a:rPr b="1" i="0" lang="en-US" sz="2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task—then</a:t>
            </a:r>
            <a:br>
              <a:rPr b="1" i="0" lang="en-US" sz="2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kept writing.</a:t>
            </a:r>
            <a:endParaRPr/>
          </a:p>
        </p:txBody>
      </p:sp>
      <p:sp>
        <p:nvSpPr>
          <p:cNvPr id="93" name="Google Shape;93;p1"/>
          <p:cNvSpPr txBox="1"/>
          <p:nvPr/>
        </p:nvSpPr>
        <p:spPr>
          <a:xfrm>
            <a:off x="8823960" y="3794760"/>
            <a:ext cx="2057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A single latent feature helped control that continuation.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RESEARCH QUESTION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 evaluation tells us what changed. The CrossCoder asks why.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685800" y="1828800"/>
            <a:ext cx="5166360" cy="3474720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9525">
            <a:solidFill>
              <a:srgbClr val="FED7A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/>
          <p:nvPr/>
        </p:nvSpPr>
        <p:spPr>
          <a:xfrm>
            <a:off x="6327648" y="1828800"/>
            <a:ext cx="5166360" cy="3474720"/>
          </a:xfrm>
          <a:prstGeom prst="roundRect">
            <a:avLst>
              <a:gd fmla="val 16667" name="adj"/>
            </a:avLst>
          </a:prstGeom>
          <a:solidFill>
            <a:srgbClr val="EFF6FF"/>
          </a:solidFill>
          <a:ln cap="flat" cmpd="sng" w="9525">
            <a:solidFill>
              <a:srgbClr val="BFDBF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1051560" y="2212848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BEHAVIOR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6693408" y="221284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REPRESENTATION</a:t>
            </a:r>
            <a:endParaRPr/>
          </a:p>
        </p:txBody>
      </p:sp>
      <p:sp>
        <p:nvSpPr>
          <p:cNvPr id="107" name="Google Shape;107;p2"/>
          <p:cNvSpPr txBox="1"/>
          <p:nvPr/>
        </p:nvSpPr>
        <p:spPr>
          <a:xfrm>
            <a:off x="1051560" y="2788920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1325880" y="2788920"/>
            <a:ext cx="4114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Base passes / fine-tuned fails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1051560" y="3401568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1325880" y="3401568"/>
            <a:ext cx="4114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Base fails / fine-tuned passes</a:t>
            </a:r>
            <a:endParaRPr/>
          </a:p>
        </p:txBody>
      </p:sp>
      <p:sp>
        <p:nvSpPr>
          <p:cNvPr id="111" name="Google Shape;111;p2"/>
          <p:cNvSpPr txBox="1"/>
          <p:nvPr/>
        </p:nvSpPr>
        <p:spPr>
          <a:xfrm>
            <a:off x="1051560" y="4014215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112" name="Google Shape;112;p2"/>
          <p:cNvSpPr txBox="1"/>
          <p:nvPr/>
        </p:nvSpPr>
        <p:spPr>
          <a:xfrm>
            <a:off x="1325880" y="4014215"/>
            <a:ext cx="4114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What kind of error occurred?</a:t>
            </a:r>
            <a:endParaRPr/>
          </a:p>
        </p:txBody>
      </p:sp>
      <p:sp>
        <p:nvSpPr>
          <p:cNvPr id="113" name="Google Shape;113;p2"/>
          <p:cNvSpPr txBox="1"/>
          <p:nvPr/>
        </p:nvSpPr>
        <p:spPr>
          <a:xfrm>
            <a:off x="6693408" y="2788920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6967728" y="2788920"/>
            <a:ext cx="4114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Paired layer-16 residuals</a:t>
            </a:r>
            <a:endParaRPr/>
          </a:p>
        </p:txBody>
      </p:sp>
      <p:sp>
        <p:nvSpPr>
          <p:cNvPr id="115" name="Google Shape;115;p2"/>
          <p:cNvSpPr txBox="1"/>
          <p:nvPr/>
        </p:nvSpPr>
        <p:spPr>
          <a:xfrm>
            <a:off x="6693408" y="3401568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116" name="Google Shape;116;p2"/>
          <p:cNvSpPr txBox="1"/>
          <p:nvPr/>
        </p:nvSpPr>
        <p:spPr>
          <a:xfrm>
            <a:off x="6967728" y="3401568"/>
            <a:ext cx="4114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Shared sparse features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6693408" y="4014215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6967728" y="4014215"/>
            <a:ext cx="4114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Decoder directions for intervention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Behavior localizes the difference. Features turn it into a testable hypothesis.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"/>
          <p:cNvSpPr/>
          <p:nvPr/>
        </p:nvSpPr>
        <p:spPr>
          <a:xfrm>
            <a:off x="-66300" y="-742100"/>
            <a:ext cx="12191700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11150200" y="6416703"/>
            <a:ext cx="320100" cy="1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126" name="Google Shape;126;p3"/>
          <p:cNvSpPr txBox="1"/>
          <p:nvPr/>
        </p:nvSpPr>
        <p:spPr>
          <a:xfrm>
            <a:off x="543160" y="198783"/>
            <a:ext cx="10972800" cy="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METHOD</a:t>
            </a:r>
            <a:endParaRPr/>
          </a:p>
        </p:txBody>
      </p:sp>
      <p:sp>
        <p:nvSpPr>
          <p:cNvPr id="127" name="Google Shape;127;p3"/>
          <p:cNvSpPr txBox="1"/>
          <p:nvPr/>
        </p:nvSpPr>
        <p:spPr>
          <a:xfrm>
            <a:off x="543160" y="564543"/>
            <a:ext cx="10972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00">
                <a:solidFill>
                  <a:srgbClr val="111827"/>
                </a:solidFill>
              </a:rPr>
              <a:t>First case study: DeepSeek base ↔ fine-tuned model diffing (</a:t>
            </a:r>
            <a:r>
              <a:rPr b="1" lang="en-US" sz="2500">
                <a:solidFill>
                  <a:srgbClr val="111827"/>
                </a:solidFill>
              </a:rPr>
              <a:t>DSTK100)</a:t>
            </a:r>
            <a:endParaRPr b="1" sz="2500">
              <a:solidFill>
                <a:srgbClr val="111827"/>
              </a:solidFill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703170" y="2062144"/>
            <a:ext cx="2057400" cy="960000"/>
          </a:xfrm>
          <a:prstGeom prst="roundRect">
            <a:avLst>
              <a:gd fmla="val 16667" name="adj"/>
            </a:avLst>
          </a:prstGeom>
          <a:solidFill>
            <a:srgbClr val="8B5CF6"/>
          </a:solidFill>
          <a:ln cap="flat" cmpd="sng" w="9525">
            <a:solidFill>
              <a:srgbClr val="BFDBF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931770" y="2245025"/>
            <a:ext cx="1554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  <a:endParaRPr>
              <a:solidFill>
                <a:srgbClr val="CBD5E1"/>
              </a:solidFill>
            </a:endParaRPr>
          </a:p>
        </p:txBody>
      </p:sp>
      <p:sp>
        <p:nvSpPr>
          <p:cNvPr id="130" name="Google Shape;130;p3"/>
          <p:cNvSpPr txBox="1"/>
          <p:nvPr/>
        </p:nvSpPr>
        <p:spPr>
          <a:xfrm>
            <a:off x="931770" y="2546777"/>
            <a:ext cx="1554600" cy="24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3C5FD"/>
                </a:solidFill>
                <a:latin typeface="Arial"/>
                <a:ea typeface="Arial"/>
                <a:cs typeface="Arial"/>
                <a:sym typeface="Arial"/>
              </a:rPr>
              <a:t>layer 16</a:t>
            </a:r>
            <a:endParaRPr>
              <a:solidFill>
                <a:srgbClr val="93C5FD"/>
              </a:solidFill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703170" y="3433745"/>
            <a:ext cx="2057400" cy="960000"/>
          </a:xfrm>
          <a:prstGeom prst="roundRect">
            <a:avLst>
              <a:gd fmla="val 16667" name="adj"/>
            </a:avLst>
          </a:prstGeom>
          <a:solidFill>
            <a:srgbClr val="ECFDF5"/>
          </a:solidFill>
          <a:ln cap="flat" cmpd="sng" w="9525">
            <a:solidFill>
              <a:srgbClr val="6EE7B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 txBox="1"/>
          <p:nvPr/>
        </p:nvSpPr>
        <p:spPr>
          <a:xfrm>
            <a:off x="931770" y="3616625"/>
            <a:ext cx="1554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FINE-TUNED</a:t>
            </a:r>
            <a:endParaRPr/>
          </a:p>
        </p:txBody>
      </p:sp>
      <p:sp>
        <p:nvSpPr>
          <p:cNvPr id="133" name="Google Shape;133;p3"/>
          <p:cNvSpPr txBox="1"/>
          <p:nvPr/>
        </p:nvSpPr>
        <p:spPr>
          <a:xfrm>
            <a:off x="931770" y="3918377"/>
            <a:ext cx="1554600" cy="24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layer 16</a:t>
            </a:r>
            <a:endParaRPr/>
          </a:p>
        </p:txBody>
      </p:sp>
      <p:sp>
        <p:nvSpPr>
          <p:cNvPr id="134" name="Google Shape;134;p3"/>
          <p:cNvSpPr txBox="1"/>
          <p:nvPr/>
        </p:nvSpPr>
        <p:spPr>
          <a:xfrm>
            <a:off x="3034890" y="2930825"/>
            <a:ext cx="1188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same tokens</a:t>
            </a:r>
            <a:endParaRPr/>
          </a:p>
        </p:txBody>
      </p:sp>
      <p:sp>
        <p:nvSpPr>
          <p:cNvPr id="135" name="Google Shape;135;p3"/>
          <p:cNvSpPr/>
          <p:nvPr/>
        </p:nvSpPr>
        <p:spPr>
          <a:xfrm>
            <a:off x="4269330" y="2427905"/>
            <a:ext cx="2834700" cy="1965900"/>
          </a:xfrm>
          <a:prstGeom prst="roundRect">
            <a:avLst>
              <a:gd fmla="val 16667" name="adj"/>
            </a:avLst>
          </a:prstGeom>
          <a:solidFill>
            <a:srgbClr val="EFF6FF"/>
          </a:solidFill>
          <a:ln cap="flat" cmpd="sng" w="9525">
            <a:solidFill>
              <a:srgbClr val="93C5F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3"/>
          <p:cNvSpPr txBox="1"/>
          <p:nvPr/>
        </p:nvSpPr>
        <p:spPr>
          <a:xfrm>
            <a:off x="4589370" y="2793665"/>
            <a:ext cx="2194500" cy="3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CROSSCODER</a:t>
            </a:r>
            <a:endParaRPr/>
          </a:p>
        </p:txBody>
      </p:sp>
      <p:sp>
        <p:nvSpPr>
          <p:cNvPr id="137" name="Google Shape;137;p3"/>
          <p:cNvSpPr txBox="1"/>
          <p:nvPr/>
        </p:nvSpPr>
        <p:spPr>
          <a:xfrm>
            <a:off x="4589370" y="3250865"/>
            <a:ext cx="21945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16,384 latents</a:t>
            </a:r>
            <a:br>
              <a:rPr b="0" i="0" lang="en-US" sz="14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4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ReLU + TopK 100</a:t>
            </a:r>
            <a:endParaRPr/>
          </a:p>
        </p:txBody>
      </p:sp>
      <p:sp>
        <p:nvSpPr>
          <p:cNvPr id="138" name="Google Shape;138;p3"/>
          <p:cNvSpPr txBox="1"/>
          <p:nvPr/>
        </p:nvSpPr>
        <p:spPr>
          <a:xfrm>
            <a:off x="3446370" y="3049697"/>
            <a:ext cx="5028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39" name="Google Shape;139;p3"/>
          <p:cNvSpPr txBox="1"/>
          <p:nvPr/>
        </p:nvSpPr>
        <p:spPr>
          <a:xfrm>
            <a:off x="7332570" y="3049697"/>
            <a:ext cx="5028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40" name="Google Shape;140;p3"/>
          <p:cNvSpPr/>
          <p:nvPr/>
        </p:nvSpPr>
        <p:spPr>
          <a:xfrm>
            <a:off x="7918400" y="2084900"/>
            <a:ext cx="3429000" cy="2434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8329885" y="2587820"/>
            <a:ext cx="210300" cy="210300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8686501" y="2587820"/>
            <a:ext cx="210300" cy="210300"/>
          </a:xfrm>
          <a:prstGeom prst="rect">
            <a:avLst/>
          </a:prstGeom>
          <a:solidFill>
            <a:srgbClr val="2563EB"/>
          </a:solidFill>
          <a:ln cap="flat" cmpd="sng" w="9525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9043117" y="2587820"/>
            <a:ext cx="210300" cy="210300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9399733" y="2587820"/>
            <a:ext cx="210300" cy="210300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9756349" y="2587820"/>
            <a:ext cx="210300" cy="210300"/>
          </a:xfrm>
          <a:prstGeom prst="rect">
            <a:avLst/>
          </a:prstGeom>
          <a:solidFill>
            <a:srgbClr val="2563EB"/>
          </a:solidFill>
          <a:ln cap="flat" cmpd="sng" w="9525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10112965" y="2587820"/>
            <a:ext cx="210300" cy="210300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10469581" y="2587820"/>
            <a:ext cx="210300" cy="210300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 txBox="1"/>
          <p:nvPr/>
        </p:nvSpPr>
        <p:spPr>
          <a:xfrm>
            <a:off x="8238445" y="3090740"/>
            <a:ext cx="2743200" cy="3357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100 active features</a:t>
            </a:r>
            <a:endParaRPr/>
          </a:p>
        </p:txBody>
      </p:sp>
      <p:sp>
        <p:nvSpPr>
          <p:cNvPr id="149" name="Google Shape;149;p3"/>
          <p:cNvSpPr txBox="1"/>
          <p:nvPr/>
        </p:nvSpPr>
        <p:spPr>
          <a:xfrm>
            <a:off x="8238445" y="3502220"/>
            <a:ext cx="2743200" cy="2895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per evaluated token</a:t>
            </a:r>
            <a:endParaRPr/>
          </a:p>
        </p:txBody>
      </p:sp>
      <p:sp>
        <p:nvSpPr>
          <p:cNvPr id="150" name="Google Shape;150;p3"/>
          <p:cNvSpPr txBox="1"/>
          <p:nvPr/>
        </p:nvSpPr>
        <p:spPr>
          <a:xfrm>
            <a:off x="863250" y="4868683"/>
            <a:ext cx="103326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2,608 code texts   ·   617,959 evaluated tokens   ·   same-text alignment</a:t>
            </a:r>
            <a:endParaRPr/>
          </a:p>
        </p:txBody>
      </p:sp>
      <p:grpSp>
        <p:nvGrpSpPr>
          <p:cNvPr id="151" name="Google Shape;151;p3"/>
          <p:cNvGrpSpPr/>
          <p:nvPr/>
        </p:nvGrpSpPr>
        <p:grpSpPr>
          <a:xfrm>
            <a:off x="466938" y="5323160"/>
            <a:ext cx="11049000" cy="1428900"/>
            <a:chOff x="0" y="0"/>
            <a:chExt cx="11049000" cy="1428900"/>
          </a:xfrm>
        </p:grpSpPr>
        <p:sp>
          <p:nvSpPr>
            <p:cNvPr id="152" name="Google Shape;152;p3"/>
            <p:cNvSpPr txBox="1"/>
            <p:nvPr/>
          </p:nvSpPr>
          <p:spPr>
            <a:xfrm>
              <a:off x="0" y="0"/>
              <a:ext cx="53340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Method Lineage</a:t>
              </a:r>
              <a:endParaRPr b="1" sz="9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9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Based on </a:t>
              </a:r>
              <a:r>
                <a:rPr i="1" lang="en-US" sz="9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Sparse Crosscoders for Cross-Layer Features and Model Diffing</a:t>
              </a:r>
              <a:r>
                <a:rPr lang="en-US" sz="9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 (Lindsey et al., 2024). TopK sparsity follows the sparse-autoencoder design studied by Gao et al. (2024). </a:t>
              </a:r>
              <a:r>
                <a:rPr b="1" lang="en-US" sz="9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DSTK100</a:t>
              </a:r>
              <a:r>
                <a:rPr lang="en-US" sz="9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 is our same-text, layer-16, TopK-100 implementation.</a:t>
              </a:r>
              <a:endParaRPr sz="9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3"/>
            <p:cNvSpPr txBox="1"/>
            <p:nvPr/>
          </p:nvSpPr>
          <p:spPr>
            <a:xfrm>
              <a:off x="5715000" y="0"/>
              <a:ext cx="53340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References</a:t>
              </a:r>
              <a:endParaRPr b="1" sz="8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• Lindsey, J. et al. "Sparse Crosscoders for Cross-Layer Features and Model Diffing." </a:t>
              </a:r>
              <a:r>
                <a:rPr i="1" lang="en-US" sz="8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Transformer Circuits</a:t>
              </a:r>
              <a:r>
                <a:rPr lang="en-US" sz="8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, 2024.</a:t>
              </a:r>
              <a:endParaRPr sz="8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• Gao, L. et al. "Scaling and Evaluating Sparse Autoencoders." 2024.</a:t>
              </a:r>
              <a:endParaRPr sz="8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4"/>
          <p:cNvSpPr txBox="1"/>
          <p:nvPr/>
        </p:nvSpPr>
        <p:spPr>
          <a:xfrm>
            <a:off x="594360" y="6547104"/>
            <a:ext cx="6400800" cy="1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160" name="Google Shape;160;p4"/>
          <p:cNvSpPr txBox="1"/>
          <p:nvPr/>
        </p:nvSpPr>
        <p:spPr>
          <a:xfrm>
            <a:off x="594360" y="292608"/>
            <a:ext cx="10972800" cy="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BEHAVIORAL MAP</a:t>
            </a:r>
            <a:endParaRPr/>
          </a:p>
        </p:txBody>
      </p:sp>
      <p:sp>
        <p:nvSpPr>
          <p:cNvPr id="161" name="Google Shape;161;p4"/>
          <p:cNvSpPr txBox="1"/>
          <p:nvPr/>
        </p:nvSpPr>
        <p:spPr>
          <a:xfrm>
            <a:off x="594360" y="658368"/>
            <a:ext cx="10972800" cy="45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Ours Results to </a:t>
            </a:r>
            <a:r>
              <a:rPr b="1" lang="en-US" sz="2500">
                <a:solidFill>
                  <a:srgbClr val="111827"/>
                </a:solidFill>
              </a:rPr>
              <a:t>DSTK100</a:t>
            </a:r>
            <a:r>
              <a:rPr b="1" lang="en-US" sz="240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 agrees with ReCatcher</a:t>
            </a:r>
            <a:endParaRPr b="1" sz="2400">
              <a:solidFill>
                <a:srgbClr val="11182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ransition_balance.png" id="162" name="Google Shape;16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60" y="1428750"/>
            <a:ext cx="6286500" cy="2327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3" name="Google Shape;163;p4"/>
          <p:cNvGrpSpPr/>
          <p:nvPr/>
        </p:nvGrpSpPr>
        <p:grpSpPr>
          <a:xfrm>
            <a:off x="594360" y="3952875"/>
            <a:ext cx="1809600" cy="1428900"/>
            <a:chOff x="0" y="0"/>
            <a:chExt cx="1809600" cy="1428900"/>
          </a:xfrm>
        </p:grpSpPr>
        <p:sp>
          <p:nvSpPr>
            <p:cNvPr id="164" name="Google Shape;164;p4"/>
            <p:cNvSpPr/>
            <p:nvPr/>
          </p:nvSpPr>
          <p:spPr>
            <a:xfrm>
              <a:off x="0" y="0"/>
              <a:ext cx="18096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4"/>
            <p:cNvSpPr txBox="1"/>
            <p:nvPr/>
          </p:nvSpPr>
          <p:spPr>
            <a:xfrm>
              <a:off x="0" y="0"/>
              <a:ext cx="18096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400">
                  <a:solidFill>
                    <a:srgbClr val="111827"/>
                  </a:solidFill>
                  <a:latin typeface="Arial"/>
                  <a:ea typeface="Arial"/>
                  <a:cs typeface="Arial"/>
                  <a:sym typeface="Arial"/>
                </a:rPr>
                <a:t>343</a:t>
              </a:r>
              <a:endParaRPr b="1" sz="3400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One-Sided Transitions</a:t>
              </a:r>
              <a:endParaRPr b="1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Total instances where models diverged</a:t>
              </a:r>
              <a:endParaRPr sz="9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6" name="Google Shape;166;p4"/>
          <p:cNvGrpSpPr/>
          <p:nvPr/>
        </p:nvGrpSpPr>
        <p:grpSpPr>
          <a:xfrm>
            <a:off x="2667000" y="3952875"/>
            <a:ext cx="2095500" cy="1428900"/>
            <a:chOff x="0" y="0"/>
            <a:chExt cx="2095500" cy="1428900"/>
          </a:xfrm>
        </p:grpSpPr>
        <p:sp>
          <p:nvSpPr>
            <p:cNvPr id="167" name="Google Shape;167;p4"/>
            <p:cNvSpPr/>
            <p:nvPr/>
          </p:nvSpPr>
          <p:spPr>
            <a:xfrm>
              <a:off x="0" y="0"/>
              <a:ext cx="20955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4"/>
            <p:cNvSpPr txBox="1"/>
            <p:nvPr/>
          </p:nvSpPr>
          <p:spPr>
            <a:xfrm>
              <a:off x="0" y="0"/>
              <a:ext cx="20955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400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257</a:t>
              </a:r>
              <a:endParaRPr b="1" sz="3400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47857"/>
                  </a:solidFill>
                  <a:latin typeface="Arial"/>
                  <a:ea typeface="Arial"/>
                  <a:cs typeface="Arial"/>
                  <a:sym typeface="Arial"/>
                </a:rPr>
                <a:t>Improvements</a:t>
              </a:r>
              <a:endParaRPr b="1" sz="1100">
                <a:solidFill>
                  <a:srgbClr val="0478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i="1" lang="en-US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base fail → FT pass</a:t>
              </a:r>
              <a:endParaRPr i="1" sz="9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HumanEval+: 42</a:t>
              </a:r>
              <a:br>
                <a:rPr b="1" lang="en-US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b="1" lang="en-US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BigCodeBench: 215</a:t>
              </a:r>
              <a:endParaRPr b="1" sz="9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9" name="Google Shape;169;p4"/>
          <p:cNvGrpSpPr/>
          <p:nvPr/>
        </p:nvGrpSpPr>
        <p:grpSpPr>
          <a:xfrm>
            <a:off x="4953000" y="3952875"/>
            <a:ext cx="2095500" cy="1428900"/>
            <a:chOff x="0" y="0"/>
            <a:chExt cx="2095500" cy="1428900"/>
          </a:xfrm>
        </p:grpSpPr>
        <p:sp>
          <p:nvSpPr>
            <p:cNvPr id="170" name="Google Shape;170;p4"/>
            <p:cNvSpPr/>
            <p:nvPr/>
          </p:nvSpPr>
          <p:spPr>
            <a:xfrm>
              <a:off x="0" y="0"/>
              <a:ext cx="20955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4"/>
            <p:cNvSpPr txBox="1"/>
            <p:nvPr/>
          </p:nvSpPr>
          <p:spPr>
            <a:xfrm>
              <a:off x="0" y="0"/>
              <a:ext cx="20955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400">
                  <a:solidFill>
                    <a:srgbClr val="EF4444"/>
                  </a:solidFill>
                  <a:latin typeface="Arial"/>
                  <a:ea typeface="Arial"/>
                  <a:cs typeface="Arial"/>
                  <a:sym typeface="Arial"/>
                </a:rPr>
                <a:t>86</a:t>
              </a:r>
              <a:endParaRPr b="1" sz="3400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B91C1C"/>
                  </a:solidFill>
                  <a:latin typeface="Arial"/>
                  <a:ea typeface="Arial"/>
                  <a:cs typeface="Arial"/>
                  <a:sym typeface="Arial"/>
                </a:rPr>
                <a:t>Regressions</a:t>
              </a:r>
              <a:endParaRPr b="1" sz="1100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i="1" lang="en-US" sz="9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base pass → FT fail</a:t>
              </a:r>
              <a:endParaRPr i="1" sz="9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HumanEval+: 7</a:t>
              </a:r>
              <a:br>
                <a:rPr b="1" lang="en-US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b="1" lang="en-US" sz="9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BigCodeBench: 79</a:t>
              </a:r>
              <a:endParaRPr b="1" sz="9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2" name="Google Shape;172;p4"/>
          <p:cNvSpPr/>
          <p:nvPr/>
        </p:nvSpPr>
        <p:spPr>
          <a:xfrm>
            <a:off x="7239000" y="1428750"/>
            <a:ext cx="4358700" cy="4143300"/>
          </a:xfrm>
          <a:prstGeom prst="roundRect">
            <a:avLst>
              <a:gd fmla="val 3678" name="adj"/>
            </a:avLst>
          </a:prstGeom>
          <a:solidFill>
            <a:srgbClr val="F8FAFC"/>
          </a:solidFill>
          <a:ln cap="flat" cmpd="sng" w="143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73" name="Google Shape;173;p4"/>
          <p:cNvGrpSpPr/>
          <p:nvPr/>
        </p:nvGrpSpPr>
        <p:grpSpPr>
          <a:xfrm>
            <a:off x="7429500" y="1571625"/>
            <a:ext cx="3977700" cy="3857700"/>
            <a:chOff x="0" y="0"/>
            <a:chExt cx="3977700" cy="3857700"/>
          </a:xfrm>
        </p:grpSpPr>
        <p:sp>
          <p:nvSpPr>
            <p:cNvPr id="174" name="Google Shape;174;p4"/>
            <p:cNvSpPr/>
            <p:nvPr/>
          </p:nvSpPr>
          <p:spPr>
            <a:xfrm>
              <a:off x="0" y="0"/>
              <a:ext cx="3977700" cy="3857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4"/>
            <p:cNvSpPr txBox="1"/>
            <p:nvPr/>
          </p:nvSpPr>
          <p:spPr>
            <a:xfrm>
              <a:off x="0" y="0"/>
              <a:ext cx="3977700" cy="385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2563EB"/>
                  </a:solidFill>
                  <a:latin typeface="Arial"/>
                  <a:ea typeface="Arial"/>
                  <a:cs typeface="Arial"/>
                  <a:sym typeface="Arial"/>
                </a:rPr>
                <a:t>Agreement with ReCatcher</a:t>
              </a:r>
              <a:endParaRPr b="1" sz="140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0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ReCatcher reported that Kotlin fine-tuning improved aggregate General Logic for DeepSeek-Coder, despite introducing localized regressions—particularly syntax errors.</a:t>
              </a:r>
              <a:endParaRPr sz="10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ReCatcher · DeepSeek FT vs original</a:t>
              </a:r>
              <a:endParaRPr b="1" sz="105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2100" lvl="0" marL="457200" rtl="0" algn="l">
                <a:spcBef>
                  <a:spcPts val="1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Arial"/>
                <a:buChar char="●"/>
              </a:pP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HumanEval+: </a:t>
              </a:r>
              <a:r>
                <a:rPr b="1" lang="en-US" sz="1000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+14.94%</a:t>
              </a: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 in Incorrect Code / General Logic</a:t>
              </a:r>
              <a:endParaRPr sz="10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2100" lvl="0" marL="457200" rtl="0" algn="l">
                <a:spcBef>
                  <a:spcPts val="1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Arial"/>
                <a:buChar char="●"/>
              </a:pP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BigCodeBench: </a:t>
              </a:r>
              <a:r>
                <a:rPr b="1" lang="en-US" sz="1000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+</a:t>
              </a:r>
              <a:r>
                <a:rPr b="1" lang="en-US" sz="1000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9.32%</a:t>
              </a: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 in Incorrect Code / General Logic</a:t>
              </a:r>
              <a:endParaRPr sz="10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Our paired evaluation</a:t>
              </a:r>
              <a:endParaRPr b="1" sz="105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2100" lvl="0" marL="457200" rtl="0" algn="l">
                <a:spcBef>
                  <a:spcPts val="1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Arial"/>
                <a:buChar char="●"/>
              </a:pP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HumanEval+: </a:t>
              </a:r>
              <a:r>
                <a:rPr b="1" lang="en-US" sz="1000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+22.57 pp</a:t>
              </a: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 in pass rate</a:t>
              </a:r>
              <a:endParaRPr sz="10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2100" lvl="0" marL="457200" rtl="0" algn="l">
                <a:spcBef>
                  <a:spcPts val="1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Arial"/>
                <a:buChar char="●"/>
              </a:pP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BigCodeBench: </a:t>
              </a:r>
              <a:r>
                <a:rPr b="1" lang="en-US" sz="1000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+7.19 pp</a:t>
              </a: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 in pass rate</a:t>
              </a:r>
              <a:endParaRPr sz="10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292100" lvl="0" marL="457200" rtl="0" algn="l">
                <a:spcBef>
                  <a:spcPts val="1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Arial"/>
                <a:buChar char="●"/>
              </a:pP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Improvements outnumbered regressions by </a:t>
              </a:r>
              <a:r>
                <a:rPr b="1"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~3:1</a:t>
              </a:r>
              <a:r>
                <a:rPr lang="en-US" sz="10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 overall</a:t>
              </a:r>
              <a:endParaRPr sz="10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8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* The magnitudes are not directly comparable: ReCatcher used 10 generations per prompt and its own regression-percentage definition; our study used one canonical generation per task and official paired evaluation.</a:t>
              </a:r>
              <a:endParaRPr sz="8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i="1" lang="en-US" sz="800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Abbassi et al., ReCatcher: Towards LLMs Regression Testing for Code Generation, 2025.</a:t>
              </a:r>
              <a:endParaRPr i="1" sz="8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6" name="Google Shape;176;p4"/>
          <p:cNvSpPr/>
          <p:nvPr/>
        </p:nvSpPr>
        <p:spPr>
          <a:xfrm>
            <a:off x="784860" y="5810250"/>
            <a:ext cx="10622400" cy="42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183" name="Google Shape;183;p6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sp>
        <p:nvSpPr>
          <p:cNvPr id="184" name="Google Shape;184;p6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FEATURE SCREENING</a:t>
            </a:r>
            <a:endParaRPr/>
          </a:p>
        </p:txBody>
      </p:sp>
      <p:sp>
        <p:nvSpPr>
          <p:cNvPr id="185" name="Google Shape;185;p6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We ranked stable contrasts—not raw activation alone</a:t>
            </a:r>
            <a:endParaRPr/>
          </a:p>
        </p:txBody>
      </p:sp>
      <p:sp>
        <p:nvSpPr>
          <p:cNvPr id="186" name="Google Shape;186;p6"/>
          <p:cNvSpPr/>
          <p:nvPr/>
        </p:nvSpPr>
        <p:spPr>
          <a:xfrm>
            <a:off x="457200" y="1828800"/>
            <a:ext cx="1874519" cy="1920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 txBox="1"/>
          <p:nvPr/>
        </p:nvSpPr>
        <p:spPr>
          <a:xfrm>
            <a:off x="594360" y="2139696"/>
            <a:ext cx="1600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4 summaries</a:t>
            </a:r>
            <a:endParaRPr/>
          </a:p>
        </p:txBody>
      </p:sp>
      <p:sp>
        <p:nvSpPr>
          <p:cNvPr id="188" name="Google Shape;188;p6"/>
          <p:cNvSpPr txBox="1"/>
          <p:nvPr/>
        </p:nvSpPr>
        <p:spPr>
          <a:xfrm>
            <a:off x="594360" y="2706624"/>
            <a:ext cx="16002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max · early_max</a:t>
            </a:r>
            <a:b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mean · active fraction</a:t>
            </a:r>
            <a:endParaRPr/>
          </a:p>
        </p:txBody>
      </p:sp>
      <p:sp>
        <p:nvSpPr>
          <p:cNvPr id="189" name="Google Shape;189;p6"/>
          <p:cNvSpPr txBox="1"/>
          <p:nvPr/>
        </p:nvSpPr>
        <p:spPr>
          <a:xfrm>
            <a:off x="2377440" y="2487168"/>
            <a:ext cx="38404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90" name="Google Shape;190;p6"/>
          <p:cNvSpPr/>
          <p:nvPr/>
        </p:nvSpPr>
        <p:spPr>
          <a:xfrm>
            <a:off x="2788920" y="1828800"/>
            <a:ext cx="1874519" cy="1920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 txBox="1"/>
          <p:nvPr/>
        </p:nvSpPr>
        <p:spPr>
          <a:xfrm>
            <a:off x="2926079" y="2139696"/>
            <a:ext cx="1600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Δ per task</a:t>
            </a:r>
            <a:endParaRPr/>
          </a:p>
        </p:txBody>
      </p:sp>
      <p:sp>
        <p:nvSpPr>
          <p:cNvPr id="192" name="Google Shape;192;p6"/>
          <p:cNvSpPr txBox="1"/>
          <p:nvPr/>
        </p:nvSpPr>
        <p:spPr>
          <a:xfrm>
            <a:off x="2926079" y="2706624"/>
            <a:ext cx="16002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aggregate(FT text)</a:t>
            </a:r>
            <a:b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− aggregate(base text)</a:t>
            </a:r>
            <a:endParaRPr/>
          </a:p>
        </p:txBody>
      </p:sp>
      <p:sp>
        <p:nvSpPr>
          <p:cNvPr id="193" name="Google Shape;193;p6"/>
          <p:cNvSpPr txBox="1"/>
          <p:nvPr/>
        </p:nvSpPr>
        <p:spPr>
          <a:xfrm>
            <a:off x="4709160" y="2487168"/>
            <a:ext cx="38404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94" name="Google Shape;194;p6"/>
          <p:cNvSpPr/>
          <p:nvPr/>
        </p:nvSpPr>
        <p:spPr>
          <a:xfrm>
            <a:off x="5120640" y="1828800"/>
            <a:ext cx="1874519" cy="1920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 txBox="1"/>
          <p:nvPr/>
        </p:nvSpPr>
        <p:spPr>
          <a:xfrm>
            <a:off x="5257800" y="2139696"/>
            <a:ext cx="1600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Observed effect</a:t>
            </a:r>
            <a:endParaRPr/>
          </a:p>
        </p:txBody>
      </p:sp>
      <p:sp>
        <p:nvSpPr>
          <p:cNvPr id="196" name="Google Shape;196;p6"/>
          <p:cNvSpPr txBox="1"/>
          <p:nvPr/>
        </p:nvSpPr>
        <p:spPr>
          <a:xfrm>
            <a:off x="5257800" y="2706624"/>
            <a:ext cx="16002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mean Δ positives</a:t>
            </a:r>
            <a:b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− mean Δ controls</a:t>
            </a:r>
            <a:endParaRPr/>
          </a:p>
        </p:txBody>
      </p:sp>
      <p:sp>
        <p:nvSpPr>
          <p:cNvPr id="197" name="Google Shape;197;p6"/>
          <p:cNvSpPr txBox="1"/>
          <p:nvPr/>
        </p:nvSpPr>
        <p:spPr>
          <a:xfrm>
            <a:off x="7040879" y="2487168"/>
            <a:ext cx="38404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98" name="Google Shape;198;p6"/>
          <p:cNvSpPr/>
          <p:nvPr/>
        </p:nvSpPr>
        <p:spPr>
          <a:xfrm>
            <a:off x="7452359" y="1828800"/>
            <a:ext cx="1874519" cy="1920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 txBox="1"/>
          <p:nvPr/>
        </p:nvSpPr>
        <p:spPr>
          <a:xfrm>
            <a:off x="7589519" y="2139696"/>
            <a:ext cx="1600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200 permutations</a:t>
            </a:r>
            <a:endParaRPr/>
          </a:p>
        </p:txBody>
      </p:sp>
      <p:sp>
        <p:nvSpPr>
          <p:cNvPr id="200" name="Google Shape;200;p6"/>
          <p:cNvSpPr txBox="1"/>
          <p:nvPr/>
        </p:nvSpPr>
        <p:spPr>
          <a:xfrm>
            <a:off x="7589519" y="2706624"/>
            <a:ext cx="16002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shuffle labels;</a:t>
            </a:r>
            <a:b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recompute effect</a:t>
            </a:r>
            <a:endParaRPr/>
          </a:p>
        </p:txBody>
      </p:sp>
      <p:sp>
        <p:nvSpPr>
          <p:cNvPr id="201" name="Google Shape;201;p6"/>
          <p:cNvSpPr txBox="1"/>
          <p:nvPr/>
        </p:nvSpPr>
        <p:spPr>
          <a:xfrm>
            <a:off x="9372599" y="2487168"/>
            <a:ext cx="38404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202" name="Google Shape;202;p6"/>
          <p:cNvSpPr/>
          <p:nvPr/>
        </p:nvSpPr>
        <p:spPr>
          <a:xfrm>
            <a:off x="9784080" y="1828800"/>
            <a:ext cx="1874519" cy="1920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6"/>
          <p:cNvSpPr txBox="1"/>
          <p:nvPr/>
        </p:nvSpPr>
        <p:spPr>
          <a:xfrm>
            <a:off x="9921240" y="2139696"/>
            <a:ext cx="1600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E/V</a:t>
            </a:r>
            <a:endParaRPr/>
          </a:p>
        </p:txBody>
      </p:sp>
      <p:sp>
        <p:nvSpPr>
          <p:cNvPr id="204" name="Google Shape;204;p6"/>
          <p:cNvSpPr txBox="1"/>
          <p:nvPr/>
        </p:nvSpPr>
        <p:spPr>
          <a:xfrm>
            <a:off x="9921240" y="2706624"/>
            <a:ext cx="16002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effect ÷ null SD</a:t>
            </a:r>
            <a:endParaRPr/>
          </a:p>
        </p:txBody>
      </p:sp>
      <p:sp>
        <p:nvSpPr>
          <p:cNvPr id="205" name="Google Shape;205;p6"/>
          <p:cNvSpPr/>
          <p:nvPr/>
        </p:nvSpPr>
        <p:spPr>
          <a:xfrm>
            <a:off x="914400" y="4343400"/>
            <a:ext cx="10332720" cy="1051560"/>
          </a:xfrm>
          <a:prstGeom prst="roundRect">
            <a:avLst>
              <a:gd fmla="val 16667" name="adj"/>
            </a:avLst>
          </a:prstGeom>
          <a:solidFill>
            <a:srgbClr val="EFF6FF"/>
          </a:solidFill>
          <a:ln cap="flat" cmpd="sng" w="9525">
            <a:solidFill>
              <a:srgbClr val="BFDBF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6"/>
          <p:cNvSpPr txBox="1"/>
          <p:nvPr/>
        </p:nvSpPr>
        <p:spPr>
          <a:xfrm>
            <a:off x="1234440" y="461772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Minimum support</a:t>
            </a:r>
            <a:endParaRPr/>
          </a:p>
        </p:txBody>
      </p:sp>
      <p:sp>
        <p:nvSpPr>
          <p:cNvPr id="207" name="Google Shape;207;p6"/>
          <p:cNvSpPr txBox="1"/>
          <p:nvPr/>
        </p:nvSpPr>
        <p:spPr>
          <a:xfrm>
            <a:off x="2743200" y="4590288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max(3 tasks, 10% of positives)</a:t>
            </a:r>
            <a:endParaRPr/>
          </a:p>
        </p:txBody>
      </p:sp>
      <p:sp>
        <p:nvSpPr>
          <p:cNvPr id="208" name="Google Shape;208;p6"/>
          <p:cNvSpPr txBox="1"/>
          <p:nvPr/>
        </p:nvSpPr>
        <p:spPr>
          <a:xfrm>
            <a:off x="5806440" y="4572000"/>
            <a:ext cx="4983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E/V is a permutation signal-to-noise score—not a z-score or a p-value.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7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215" name="Google Shape;215;p7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/>
          </a:p>
        </p:txBody>
      </p:sp>
      <p:sp>
        <p:nvSpPr>
          <p:cNvPr id="216" name="Google Shape;216;p7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SCREENING RESULT</a:t>
            </a:r>
            <a:endParaRPr/>
          </a:p>
        </p:txBody>
      </p:sp>
      <p:sp>
        <p:nvSpPr>
          <p:cNvPr id="217" name="Google Shape;217;p7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Feature 6404 ranked #2—and the result was specification-robust</a:t>
            </a:r>
            <a:endParaRPr/>
          </a:p>
        </p:txBody>
      </p:sp>
      <p:pic>
        <p:nvPicPr>
          <p:cNvPr descr="ev_top10.png" id="218" name="Google Shape;21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371600"/>
            <a:ext cx="7498079" cy="3984623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7"/>
          <p:cNvSpPr/>
          <p:nvPr/>
        </p:nvSpPr>
        <p:spPr>
          <a:xfrm>
            <a:off x="8366760" y="1645920"/>
            <a:ext cx="2971800" cy="3520440"/>
          </a:xfrm>
          <a:prstGeom prst="roundRect">
            <a:avLst>
              <a:gd fmla="val 16667" name="adj"/>
            </a:avLst>
          </a:prstGeom>
          <a:solidFill>
            <a:srgbClr val="EFF6FF"/>
          </a:solidFill>
          <a:ln cap="flat" cmpd="sng" w="9525">
            <a:solidFill>
              <a:srgbClr val="93C5F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7"/>
          <p:cNvSpPr txBox="1"/>
          <p:nvPr/>
        </p:nvSpPr>
        <p:spPr>
          <a:xfrm>
            <a:off x="8732520" y="2011680"/>
            <a:ext cx="2240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6404</a:t>
            </a:r>
            <a:endParaRPr/>
          </a:p>
        </p:txBody>
      </p:sp>
      <p:sp>
        <p:nvSpPr>
          <p:cNvPr id="221" name="Google Shape;221;p7"/>
          <p:cNvSpPr txBox="1"/>
          <p:nvPr/>
        </p:nvSpPr>
        <p:spPr>
          <a:xfrm>
            <a:off x="8732520" y="2770632"/>
            <a:ext cx="2240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E/V 4.47</a:t>
            </a:r>
            <a:endParaRPr/>
          </a:p>
        </p:txBody>
      </p:sp>
      <p:sp>
        <p:nvSpPr>
          <p:cNvPr id="222" name="Google Shape;222;p7"/>
          <p:cNvSpPr txBox="1"/>
          <p:nvPr/>
        </p:nvSpPr>
        <p:spPr>
          <a:xfrm>
            <a:off x="8732520" y="3246120"/>
            <a:ext cx="2240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47 / 79 support</a:t>
            </a:r>
            <a:endParaRPr/>
          </a:p>
        </p:txBody>
      </p:sp>
      <p:sp>
        <p:nvSpPr>
          <p:cNvPr id="223" name="Google Shape;223;p7"/>
          <p:cNvSpPr txBox="1"/>
          <p:nvPr/>
        </p:nvSpPr>
        <p:spPr>
          <a:xfrm>
            <a:off x="8641080" y="3950208"/>
            <a:ext cx="2423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Same Top 10 with all four aggregations or E/V alone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9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230" name="Google Shape;230;p9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  <p:sp>
        <p:nvSpPr>
          <p:cNvPr id="231" name="Google Shape;231;p9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SELECTION LOGIC</a:t>
            </a:r>
            <a:endParaRPr/>
          </a:p>
        </p:txBody>
      </p:sp>
      <p:sp>
        <p:nvSpPr>
          <p:cNvPr id="232" name="Google Shape;232;p9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 good causal candidate aligns meaning, failure mode, and timing</a:t>
            </a:r>
            <a:endParaRPr/>
          </a:p>
        </p:txBody>
      </p:sp>
      <p:sp>
        <p:nvSpPr>
          <p:cNvPr id="233" name="Google Shape;233;p9"/>
          <p:cNvSpPr/>
          <p:nvPr/>
        </p:nvSpPr>
        <p:spPr>
          <a:xfrm>
            <a:off x="594360" y="1828800"/>
            <a:ext cx="3337560" cy="2331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 txBox="1"/>
          <p:nvPr/>
        </p:nvSpPr>
        <p:spPr>
          <a:xfrm>
            <a:off x="822960" y="2212848"/>
            <a:ext cx="2880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Arial"/>
                <a:ea typeface="Arial"/>
                <a:cs typeface="Arial"/>
                <a:sym typeface="Arial"/>
              </a:rPr>
              <a:t>MEANING</a:t>
            </a:r>
            <a:endParaRPr/>
          </a:p>
        </p:txBody>
      </p:sp>
      <p:sp>
        <p:nvSpPr>
          <p:cNvPr id="235" name="Google Shape;235;p9"/>
          <p:cNvSpPr txBox="1"/>
          <p:nvPr/>
        </p:nvSpPr>
        <p:spPr>
          <a:xfrm>
            <a:off x="914400" y="2852928"/>
            <a:ext cx="2697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What tokens and contexts</a:t>
            </a:r>
            <a:b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activate the feature?</a:t>
            </a:r>
            <a:endParaRPr/>
          </a:p>
        </p:txBody>
      </p:sp>
      <p:sp>
        <p:nvSpPr>
          <p:cNvPr id="236" name="Google Shape;236;p9"/>
          <p:cNvSpPr/>
          <p:nvPr/>
        </p:nvSpPr>
        <p:spPr>
          <a:xfrm>
            <a:off x="4416552" y="1828800"/>
            <a:ext cx="3337560" cy="2331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F444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 txBox="1"/>
          <p:nvPr/>
        </p:nvSpPr>
        <p:spPr>
          <a:xfrm>
            <a:off x="4645152" y="2212848"/>
            <a:ext cx="2880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FAILURE MODE</a:t>
            </a:r>
            <a:endParaRPr/>
          </a:p>
        </p:txBody>
      </p:sp>
      <p:sp>
        <p:nvSpPr>
          <p:cNvPr id="238" name="Google Shape;238;p9"/>
          <p:cNvSpPr txBox="1"/>
          <p:nvPr/>
        </p:nvSpPr>
        <p:spPr>
          <a:xfrm>
            <a:off x="4736592" y="2852928"/>
            <a:ext cx="2697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Which behavioral transition</a:t>
            </a:r>
            <a:b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is it associated with?</a:t>
            </a:r>
            <a:endParaRPr/>
          </a:p>
        </p:txBody>
      </p:sp>
      <p:sp>
        <p:nvSpPr>
          <p:cNvPr id="239" name="Google Shape;239;p9"/>
          <p:cNvSpPr/>
          <p:nvPr/>
        </p:nvSpPr>
        <p:spPr>
          <a:xfrm>
            <a:off x="8238744" y="1828800"/>
            <a:ext cx="3337560" cy="2331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06B6D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9"/>
          <p:cNvSpPr txBox="1"/>
          <p:nvPr/>
        </p:nvSpPr>
        <p:spPr>
          <a:xfrm>
            <a:off x="8467344" y="2212848"/>
            <a:ext cx="2880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6B6D4"/>
                </a:solidFill>
                <a:latin typeface="Arial"/>
                <a:ea typeface="Arial"/>
                <a:cs typeface="Arial"/>
                <a:sym typeface="Arial"/>
              </a:rPr>
              <a:t>TIMING</a:t>
            </a:r>
            <a:endParaRPr/>
          </a:p>
        </p:txBody>
      </p:sp>
      <p:sp>
        <p:nvSpPr>
          <p:cNvPr id="241" name="Google Shape;241;p9"/>
          <p:cNvSpPr txBox="1"/>
          <p:nvPr/>
        </p:nvSpPr>
        <p:spPr>
          <a:xfrm>
            <a:off x="8558784" y="2852928"/>
            <a:ext cx="2697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Does activation precede</a:t>
            </a:r>
            <a:b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 relevant decision?</a:t>
            </a:r>
            <a:endParaRPr/>
          </a:p>
        </p:txBody>
      </p:sp>
      <p:sp>
        <p:nvSpPr>
          <p:cNvPr id="242" name="Google Shape;242;p9"/>
          <p:cNvSpPr txBox="1"/>
          <p:nvPr/>
        </p:nvSpPr>
        <p:spPr>
          <a:xfrm>
            <a:off x="914400" y="4892040"/>
            <a:ext cx="10332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Semantic clarity alone is not enough: a late feature may be a consequence or style marker.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0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249" name="Google Shape;249;p10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  <p:sp>
        <p:nvSpPr>
          <p:cNvPr id="250" name="Google Shape;250;p10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TEMPORAL PLAUSIBILITY</a:t>
            </a:r>
            <a:endParaRPr/>
          </a:p>
        </p:txBody>
      </p:sp>
      <p:sp>
        <p:nvSpPr>
          <p:cNvPr id="251" name="Google Shape;251;p10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First-activation position separates plausible causes from late markers</a:t>
            </a:r>
            <a:endParaRPr/>
          </a:p>
        </p:txBody>
      </p:sp>
      <p:pic>
        <p:nvPicPr>
          <p:cNvPr descr="feature_first_activation.png" id="252" name="Google Shape;25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60" y="1234440"/>
            <a:ext cx="7955279" cy="3944047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10"/>
          <p:cNvSpPr/>
          <p:nvPr/>
        </p:nvSpPr>
        <p:spPr>
          <a:xfrm>
            <a:off x="8823960" y="1554480"/>
            <a:ext cx="2514600" cy="4069080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9525">
            <a:solidFill>
              <a:srgbClr val="FED7A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0"/>
          <p:cNvSpPr txBox="1"/>
          <p:nvPr/>
        </p:nvSpPr>
        <p:spPr>
          <a:xfrm>
            <a:off x="9144000" y="1874519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Example</a:t>
            </a:r>
            <a:endParaRPr/>
          </a:p>
        </p:txBody>
      </p:sp>
      <p:sp>
        <p:nvSpPr>
          <p:cNvPr id="255" name="Google Shape;255;p10"/>
          <p:cNvSpPr txBox="1"/>
          <p:nvPr/>
        </p:nvSpPr>
        <p:spPr>
          <a:xfrm>
            <a:off x="9144000" y="23317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Feature 12956</a:t>
            </a:r>
            <a:endParaRPr/>
          </a:p>
        </p:txBody>
      </p:sp>
      <p:sp>
        <p:nvSpPr>
          <p:cNvPr id="256" name="Google Shape;256;p10"/>
          <p:cNvSpPr txBox="1"/>
          <p:nvPr/>
        </p:nvSpPr>
        <p:spPr>
          <a:xfrm>
            <a:off x="9144000" y="2788920"/>
            <a:ext cx="1828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Expected output / examples</a:t>
            </a:r>
            <a:endParaRPr/>
          </a:p>
        </p:txBody>
      </p:sp>
      <p:sp>
        <p:nvSpPr>
          <p:cNvPr id="257" name="Google Shape;257;p10"/>
          <p:cNvSpPr txBox="1"/>
          <p:nvPr/>
        </p:nvSpPr>
        <p:spPr>
          <a:xfrm>
            <a:off x="9144000" y="3657600"/>
            <a:ext cx="18288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Semantically clear—often too late to explain the implementation decision.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264" name="Google Shape;264;p11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sp>
        <p:nvSpPr>
          <p:cNvPr id="265" name="Google Shape;265;p11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MECHANISTIC DISCOVERY</a:t>
            </a:r>
            <a:endParaRPr/>
          </a:p>
        </p:txBody>
      </p:sp>
      <p:sp>
        <p:nvSpPr>
          <p:cNvPr id="266" name="Google Shape;266;p11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 pearl: many ‘improvements’ were simply cleaner stopping behavior</a:t>
            </a:r>
            <a:endParaRPr/>
          </a:p>
        </p:txBody>
      </p:sp>
      <p:sp>
        <p:nvSpPr>
          <p:cNvPr id="267" name="Google Shape;267;p11"/>
          <p:cNvSpPr txBox="1"/>
          <p:nvPr/>
        </p:nvSpPr>
        <p:spPr>
          <a:xfrm>
            <a:off x="822960" y="1508760"/>
            <a:ext cx="3840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119 / 215</a:t>
            </a:r>
            <a:endParaRPr/>
          </a:p>
        </p:txBody>
      </p:sp>
      <p:sp>
        <p:nvSpPr>
          <p:cNvPr id="268" name="Google Shape;268;p11"/>
          <p:cNvSpPr txBox="1"/>
          <p:nvPr/>
        </p:nvSpPr>
        <p:spPr>
          <a:xfrm>
            <a:off x="822960" y="228600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BigCodeBench improvements</a:t>
            </a:r>
            <a:endParaRPr/>
          </a:p>
        </p:txBody>
      </p:sp>
      <p:sp>
        <p:nvSpPr>
          <p:cNvPr id="269" name="Google Shape;269;p11"/>
          <p:cNvSpPr txBox="1"/>
          <p:nvPr/>
        </p:nvSpPr>
        <p:spPr>
          <a:xfrm>
            <a:off x="822960" y="2926080"/>
            <a:ext cx="38404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  <a:endParaRPr/>
          </a:p>
        </p:txBody>
      </p:sp>
      <p:sp>
        <p:nvSpPr>
          <p:cNvPr id="270" name="Google Shape;270;p11"/>
          <p:cNvSpPr txBox="1"/>
          <p:nvPr/>
        </p:nvSpPr>
        <p:spPr>
          <a:xfrm>
            <a:off x="868680" y="3867912"/>
            <a:ext cx="3749039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test/import contamination in the base output</a:t>
            </a:r>
            <a:endParaRPr/>
          </a:p>
        </p:txBody>
      </p:sp>
      <p:sp>
        <p:nvSpPr>
          <p:cNvPr id="271" name="Google Shape;271;p11"/>
          <p:cNvSpPr/>
          <p:nvPr/>
        </p:nvSpPr>
        <p:spPr>
          <a:xfrm>
            <a:off x="5166360" y="1325880"/>
            <a:ext cx="5989320" cy="4160520"/>
          </a:xfrm>
          <a:prstGeom prst="roundRect">
            <a:avLst>
              <a:gd fmla="val 16667" name="adj"/>
            </a:avLst>
          </a:prstGeom>
          <a:solidFill>
            <a:srgbClr val="172033"/>
          </a:solidFill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 txBox="1"/>
          <p:nvPr/>
        </p:nvSpPr>
        <p:spPr>
          <a:xfrm>
            <a:off x="5532120" y="1783080"/>
            <a:ext cx="5257800" cy="23317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def task_func(...):</a:t>
            </a:r>
            <a:b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    ... plausible solution ...</a:t>
            </a:r>
            <a:b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b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-# tests</a:t>
            </a:r>
            <a:b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-from task_func import task_func</a:t>
            </a:r>
            <a:endParaRPr/>
          </a:p>
        </p:txBody>
      </p:sp>
      <p:sp>
        <p:nvSpPr>
          <p:cNvPr id="273" name="Google Shape;273;p11"/>
          <p:cNvSpPr txBox="1"/>
          <p:nvPr/>
        </p:nvSpPr>
        <p:spPr>
          <a:xfrm>
            <a:off x="5532120" y="4434840"/>
            <a:ext cx="52578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The fine-tuned model often won by stopping—not by implementing a different algorithm.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2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280" name="Google Shape;280;p12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/>
          </a:p>
        </p:txBody>
      </p:sp>
      <p:sp>
        <p:nvSpPr>
          <p:cNvPr id="281" name="Google Shape;281;p12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FEATURE INTERPRETATION</a:t>
            </a:r>
            <a:endParaRPr/>
          </a:p>
        </p:txBody>
      </p:sp>
      <p:sp>
        <p:nvSpPr>
          <p:cNvPr id="282" name="Google Shape;282;p12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Feature 6404 matched the semantics of post-solution continuation</a:t>
            </a:r>
            <a:endParaRPr/>
          </a:p>
        </p:txBody>
      </p:sp>
      <p:sp>
        <p:nvSpPr>
          <p:cNvPr id="283" name="Google Shape;283;p12"/>
          <p:cNvSpPr/>
          <p:nvPr/>
        </p:nvSpPr>
        <p:spPr>
          <a:xfrm>
            <a:off x="685800" y="1508760"/>
            <a:ext cx="4754880" cy="4069080"/>
          </a:xfrm>
          <a:prstGeom prst="roundRect">
            <a:avLst>
              <a:gd fmla="val 16667" name="adj"/>
            </a:avLst>
          </a:prstGeom>
          <a:solidFill>
            <a:srgbClr val="EFF6FF"/>
          </a:solidFill>
          <a:ln cap="flat" cmpd="sng" w="9525">
            <a:solidFill>
              <a:srgbClr val="93C5F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2"/>
          <p:cNvSpPr txBox="1"/>
          <p:nvPr/>
        </p:nvSpPr>
        <p:spPr>
          <a:xfrm>
            <a:off x="1051560" y="182880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6404</a:t>
            </a:r>
            <a:endParaRPr/>
          </a:p>
        </p:txBody>
      </p:sp>
      <p:sp>
        <p:nvSpPr>
          <p:cNvPr id="285" name="Google Shape;285;p12"/>
          <p:cNvSpPr txBox="1"/>
          <p:nvPr/>
        </p:nvSpPr>
        <p:spPr>
          <a:xfrm>
            <a:off x="1051560" y="251460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Dominant activation contexts</a:t>
            </a:r>
            <a:endParaRPr/>
          </a:p>
        </p:txBody>
      </p:sp>
      <p:sp>
        <p:nvSpPr>
          <p:cNvPr id="286" name="Google Shape;286;p12"/>
          <p:cNvSpPr txBox="1"/>
          <p:nvPr/>
        </p:nvSpPr>
        <p:spPr>
          <a:xfrm>
            <a:off x="1234440" y="297180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expected</a:t>
            </a:r>
            <a:endParaRPr/>
          </a:p>
        </p:txBody>
      </p:sp>
      <p:sp>
        <p:nvSpPr>
          <p:cNvPr id="287" name="Google Shape;287;p12"/>
          <p:cNvSpPr txBox="1"/>
          <p:nvPr/>
        </p:nvSpPr>
        <p:spPr>
          <a:xfrm>
            <a:off x="1234440" y="3447288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should</a:t>
            </a:r>
            <a:endParaRPr/>
          </a:p>
        </p:txBody>
      </p:sp>
      <p:sp>
        <p:nvSpPr>
          <p:cNvPr id="288" name="Google Shape;288;p12"/>
          <p:cNvSpPr txBox="1"/>
          <p:nvPr/>
        </p:nvSpPr>
        <p:spPr>
          <a:xfrm>
            <a:off x="1234440" y="3922776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assumptions / caveats</a:t>
            </a:r>
            <a:endParaRPr/>
          </a:p>
        </p:txBody>
      </p:sp>
      <p:sp>
        <p:nvSpPr>
          <p:cNvPr id="289" name="Google Shape;289;p12"/>
          <p:cNvSpPr txBox="1"/>
          <p:nvPr/>
        </p:nvSpPr>
        <p:spPr>
          <a:xfrm>
            <a:off x="1234440" y="4398264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comments and boilerplate</a:t>
            </a:r>
            <a:endParaRPr/>
          </a:p>
        </p:txBody>
      </p:sp>
      <p:sp>
        <p:nvSpPr>
          <p:cNvPr id="290" name="Google Shape;290;p12"/>
          <p:cNvSpPr/>
          <p:nvPr/>
        </p:nvSpPr>
        <p:spPr>
          <a:xfrm>
            <a:off x="5806440" y="1508760"/>
            <a:ext cx="5440680" cy="4069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2"/>
          <p:cNvSpPr txBox="1"/>
          <p:nvPr/>
        </p:nvSpPr>
        <p:spPr>
          <a:xfrm>
            <a:off x="6217920" y="1874519"/>
            <a:ext cx="1828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  <a:endParaRPr/>
          </a:p>
        </p:txBody>
      </p:sp>
      <p:sp>
        <p:nvSpPr>
          <p:cNvPr id="292" name="Google Shape;292;p12"/>
          <p:cNvSpPr txBox="1"/>
          <p:nvPr/>
        </p:nvSpPr>
        <p:spPr>
          <a:xfrm>
            <a:off x="6217920" y="260604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contamination cases</a:t>
            </a:r>
            <a:endParaRPr/>
          </a:p>
        </p:txBody>
      </p:sp>
      <p:sp>
        <p:nvSpPr>
          <p:cNvPr id="293" name="Google Shape;293;p12"/>
          <p:cNvSpPr txBox="1"/>
          <p:nvPr/>
        </p:nvSpPr>
        <p:spPr>
          <a:xfrm>
            <a:off x="8229600" y="2057400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vs</a:t>
            </a:r>
            <a:endParaRPr/>
          </a:p>
        </p:txBody>
      </p:sp>
      <p:sp>
        <p:nvSpPr>
          <p:cNvPr id="294" name="Google Shape;294;p12"/>
          <p:cNvSpPr txBox="1"/>
          <p:nvPr/>
        </p:nvSpPr>
        <p:spPr>
          <a:xfrm>
            <a:off x="8823960" y="1874519"/>
            <a:ext cx="1828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  <a:endParaRPr/>
          </a:p>
        </p:txBody>
      </p:sp>
      <p:sp>
        <p:nvSpPr>
          <p:cNvPr id="295" name="Google Shape;295;p12"/>
          <p:cNvSpPr txBox="1"/>
          <p:nvPr/>
        </p:nvSpPr>
        <p:spPr>
          <a:xfrm>
            <a:off x="8823960" y="260604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other improvements</a:t>
            </a:r>
            <a:endParaRPr/>
          </a:p>
        </p:txBody>
      </p:sp>
      <p:sp>
        <p:nvSpPr>
          <p:cNvPr id="296" name="Google Shape;296;p12"/>
          <p:cNvSpPr txBox="1"/>
          <p:nvPr/>
        </p:nvSpPr>
        <p:spPr>
          <a:xfrm>
            <a:off x="6492240" y="3657600"/>
            <a:ext cx="4114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Exploratory odds ratio ≈ 4.44</a:t>
            </a:r>
            <a:endParaRPr/>
          </a:p>
        </p:txBody>
      </p:sp>
      <p:sp>
        <p:nvSpPr>
          <p:cNvPr id="297" name="Google Shape;297;p12"/>
          <p:cNvSpPr txBox="1"/>
          <p:nvPr/>
        </p:nvSpPr>
        <p:spPr>
          <a:xfrm>
            <a:off x="6400800" y="4389120"/>
            <a:ext cx="42976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Association generated the hypothesis; it did not establish causality.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3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304" name="Google Shape;304;p13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/>
          </a:p>
        </p:txBody>
      </p:sp>
      <p:sp>
        <p:nvSpPr>
          <p:cNvPr id="305" name="Google Shape;305;p13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CAUSAL DESIGN</a:t>
            </a:r>
            <a:endParaRPr/>
          </a:p>
        </p:txBody>
      </p:sp>
      <p:sp>
        <p:nvSpPr>
          <p:cNvPr id="306" name="Google Shape;306;p13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 deliberately selected cohort turned the hypothesis into a test</a:t>
            </a:r>
            <a:endParaRPr/>
          </a:p>
        </p:txBody>
      </p:sp>
      <p:sp>
        <p:nvSpPr>
          <p:cNvPr id="307" name="Google Shape;307;p13"/>
          <p:cNvSpPr/>
          <p:nvPr/>
        </p:nvSpPr>
        <p:spPr>
          <a:xfrm>
            <a:off x="640080" y="1691640"/>
            <a:ext cx="2377440" cy="1920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3"/>
          <p:cNvSpPr txBox="1"/>
          <p:nvPr/>
        </p:nvSpPr>
        <p:spPr>
          <a:xfrm>
            <a:off x="1463040" y="1965960"/>
            <a:ext cx="731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309" name="Google Shape;309;p13"/>
          <p:cNvSpPr txBox="1"/>
          <p:nvPr/>
        </p:nvSpPr>
        <p:spPr>
          <a:xfrm>
            <a:off x="868680" y="274320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Base failed</a:t>
            </a:r>
            <a:endParaRPr/>
          </a:p>
        </p:txBody>
      </p:sp>
      <p:sp>
        <p:nvSpPr>
          <p:cNvPr id="310" name="Google Shape;310;p13"/>
          <p:cNvSpPr/>
          <p:nvPr/>
        </p:nvSpPr>
        <p:spPr>
          <a:xfrm>
            <a:off x="3429000" y="1691640"/>
            <a:ext cx="2377440" cy="1920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3"/>
          <p:cNvSpPr txBox="1"/>
          <p:nvPr/>
        </p:nvSpPr>
        <p:spPr>
          <a:xfrm>
            <a:off x="4251960" y="1965960"/>
            <a:ext cx="731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312" name="Google Shape;312;p13"/>
          <p:cNvSpPr txBox="1"/>
          <p:nvPr/>
        </p:nvSpPr>
        <p:spPr>
          <a:xfrm>
            <a:off x="3657600" y="274320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Fine-tuned passed</a:t>
            </a:r>
            <a:endParaRPr/>
          </a:p>
        </p:txBody>
      </p:sp>
      <p:sp>
        <p:nvSpPr>
          <p:cNvPr id="313" name="Google Shape;313;p13"/>
          <p:cNvSpPr/>
          <p:nvPr/>
        </p:nvSpPr>
        <p:spPr>
          <a:xfrm>
            <a:off x="6217920" y="1691640"/>
            <a:ext cx="2377440" cy="1920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3"/>
          <p:cNvSpPr txBox="1"/>
          <p:nvPr/>
        </p:nvSpPr>
        <p:spPr>
          <a:xfrm>
            <a:off x="7040880" y="1965960"/>
            <a:ext cx="731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315" name="Google Shape;315;p13"/>
          <p:cNvSpPr txBox="1"/>
          <p:nvPr/>
        </p:nvSpPr>
        <p:spPr>
          <a:xfrm>
            <a:off x="6446520" y="274320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Base generated tests/imports</a:t>
            </a:r>
            <a:endParaRPr/>
          </a:p>
        </p:txBody>
      </p:sp>
      <p:sp>
        <p:nvSpPr>
          <p:cNvPr id="316" name="Google Shape;316;p13"/>
          <p:cNvSpPr/>
          <p:nvPr/>
        </p:nvSpPr>
        <p:spPr>
          <a:xfrm>
            <a:off x="9006839" y="1691640"/>
            <a:ext cx="2377440" cy="1920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3"/>
          <p:cNvSpPr txBox="1"/>
          <p:nvPr/>
        </p:nvSpPr>
        <p:spPr>
          <a:xfrm>
            <a:off x="9829799" y="1965960"/>
            <a:ext cx="731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318" name="Google Shape;318;p13"/>
          <p:cNvSpPr txBox="1"/>
          <p:nvPr/>
        </p:nvSpPr>
        <p:spPr>
          <a:xfrm>
            <a:off x="9235439" y="274320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Feature 6404 was naturally active</a:t>
            </a:r>
            <a:endParaRPr/>
          </a:p>
        </p:txBody>
      </p:sp>
      <p:sp>
        <p:nvSpPr>
          <p:cNvPr id="319" name="Google Shape;319;p13"/>
          <p:cNvSpPr txBox="1"/>
          <p:nvPr/>
        </p:nvSpPr>
        <p:spPr>
          <a:xfrm>
            <a:off x="4251960" y="4160520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  <a:endParaRPr/>
          </a:p>
        </p:txBody>
      </p:sp>
      <p:sp>
        <p:nvSpPr>
          <p:cNvPr id="320" name="Google Shape;320;p13"/>
          <p:cNvSpPr txBox="1"/>
          <p:nvPr/>
        </p:nvSpPr>
        <p:spPr>
          <a:xfrm>
            <a:off x="5394960" y="4343400"/>
            <a:ext cx="2057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mechanistic cases</a:t>
            </a:r>
            <a:endParaRPr/>
          </a:p>
        </p:txBody>
      </p:sp>
      <p:sp>
        <p:nvSpPr>
          <p:cNvPr id="321" name="Google Shape;321;p13"/>
          <p:cNvSpPr txBox="1"/>
          <p:nvPr/>
        </p:nvSpPr>
        <p:spPr>
          <a:xfrm>
            <a:off x="2743200" y="5257800"/>
            <a:ext cx="6675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Selected for mechanism—not an out-of-sample estimate.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4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328" name="Google Shape;328;p14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/>
          </a:p>
        </p:txBody>
      </p:sp>
      <p:sp>
        <p:nvSpPr>
          <p:cNvPr id="329" name="Google Shape;329;p14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ONLINE GATED STEERING</a:t>
            </a:r>
            <a:endParaRPr/>
          </a:p>
        </p:txBody>
      </p:sp>
      <p:sp>
        <p:nvSpPr>
          <p:cNvPr id="330" name="Google Shape;330;p14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We intervened only when 6404 entered the natural TopK</a:t>
            </a:r>
            <a:endParaRPr/>
          </a:p>
        </p:txBody>
      </p:sp>
      <p:sp>
        <p:nvSpPr>
          <p:cNvPr id="331" name="Google Shape;331;p14"/>
          <p:cNvSpPr/>
          <p:nvPr/>
        </p:nvSpPr>
        <p:spPr>
          <a:xfrm>
            <a:off x="411480" y="1691640"/>
            <a:ext cx="196596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4"/>
          <p:cNvSpPr txBox="1"/>
          <p:nvPr/>
        </p:nvSpPr>
        <p:spPr>
          <a:xfrm>
            <a:off x="548640" y="196596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Current token</a:t>
            </a:r>
            <a:endParaRPr/>
          </a:p>
        </p:txBody>
      </p:sp>
      <p:sp>
        <p:nvSpPr>
          <p:cNvPr id="333" name="Google Shape;333;p14"/>
          <p:cNvSpPr txBox="1"/>
          <p:nvPr/>
        </p:nvSpPr>
        <p:spPr>
          <a:xfrm>
            <a:off x="548640" y="2423160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capture layer 16</a:t>
            </a:r>
            <a:endParaRPr/>
          </a:p>
        </p:txBody>
      </p:sp>
      <p:sp>
        <p:nvSpPr>
          <p:cNvPr id="334" name="Google Shape;334;p14"/>
          <p:cNvSpPr txBox="1"/>
          <p:nvPr/>
        </p:nvSpPr>
        <p:spPr>
          <a:xfrm>
            <a:off x="2377440" y="2103120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335" name="Google Shape;335;p14"/>
          <p:cNvSpPr/>
          <p:nvPr/>
        </p:nvSpPr>
        <p:spPr>
          <a:xfrm>
            <a:off x="2770632" y="1691640"/>
            <a:ext cx="196596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4"/>
          <p:cNvSpPr txBox="1"/>
          <p:nvPr/>
        </p:nvSpPr>
        <p:spPr>
          <a:xfrm>
            <a:off x="2907792" y="196596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Paired residuals</a:t>
            </a:r>
            <a:endParaRPr/>
          </a:p>
        </p:txBody>
      </p:sp>
      <p:sp>
        <p:nvSpPr>
          <p:cNvPr id="337" name="Google Shape;337;p14"/>
          <p:cNvSpPr txBox="1"/>
          <p:nvPr/>
        </p:nvSpPr>
        <p:spPr>
          <a:xfrm>
            <a:off x="2907792" y="2423160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RMS normalize</a:t>
            </a:r>
            <a:endParaRPr/>
          </a:p>
        </p:txBody>
      </p:sp>
      <p:sp>
        <p:nvSpPr>
          <p:cNvPr id="338" name="Google Shape;338;p14"/>
          <p:cNvSpPr txBox="1"/>
          <p:nvPr/>
        </p:nvSpPr>
        <p:spPr>
          <a:xfrm>
            <a:off x="4736592" y="2103120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339" name="Google Shape;339;p14"/>
          <p:cNvSpPr/>
          <p:nvPr/>
        </p:nvSpPr>
        <p:spPr>
          <a:xfrm>
            <a:off x="5129784" y="1691640"/>
            <a:ext cx="196596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4"/>
          <p:cNvSpPr txBox="1"/>
          <p:nvPr/>
        </p:nvSpPr>
        <p:spPr>
          <a:xfrm>
            <a:off x="5266944" y="196596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DSTK100</a:t>
            </a:r>
            <a:endParaRPr/>
          </a:p>
        </p:txBody>
      </p:sp>
      <p:sp>
        <p:nvSpPr>
          <p:cNvPr id="341" name="Google Shape;341;p14"/>
          <p:cNvSpPr txBox="1"/>
          <p:nvPr/>
        </p:nvSpPr>
        <p:spPr>
          <a:xfrm>
            <a:off x="5266944" y="2423160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ReLU + TopK 100</a:t>
            </a:r>
            <a:endParaRPr/>
          </a:p>
        </p:txBody>
      </p:sp>
      <p:sp>
        <p:nvSpPr>
          <p:cNvPr id="342" name="Google Shape;342;p14"/>
          <p:cNvSpPr txBox="1"/>
          <p:nvPr/>
        </p:nvSpPr>
        <p:spPr>
          <a:xfrm>
            <a:off x="7095744" y="2103120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343" name="Google Shape;343;p14"/>
          <p:cNvSpPr/>
          <p:nvPr/>
        </p:nvSpPr>
        <p:spPr>
          <a:xfrm>
            <a:off x="7488936" y="1691640"/>
            <a:ext cx="196596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3C5F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4"/>
          <p:cNvSpPr txBox="1"/>
          <p:nvPr/>
        </p:nvSpPr>
        <p:spPr>
          <a:xfrm>
            <a:off x="7626096" y="196596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6404 active?</a:t>
            </a:r>
            <a:endParaRPr/>
          </a:p>
        </p:txBody>
      </p:sp>
      <p:sp>
        <p:nvSpPr>
          <p:cNvPr id="345" name="Google Shape;345;p14"/>
          <p:cNvSpPr txBox="1"/>
          <p:nvPr/>
        </p:nvSpPr>
        <p:spPr>
          <a:xfrm>
            <a:off x="7626096" y="2423160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gate intervention</a:t>
            </a:r>
            <a:endParaRPr/>
          </a:p>
        </p:txBody>
      </p:sp>
      <p:sp>
        <p:nvSpPr>
          <p:cNvPr id="346" name="Google Shape;346;p14"/>
          <p:cNvSpPr txBox="1"/>
          <p:nvPr/>
        </p:nvSpPr>
        <p:spPr>
          <a:xfrm>
            <a:off x="9454896" y="2103120"/>
            <a:ext cx="365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347" name="Google Shape;347;p14"/>
          <p:cNvSpPr/>
          <p:nvPr/>
        </p:nvSpPr>
        <p:spPr>
          <a:xfrm>
            <a:off x="9848088" y="1691640"/>
            <a:ext cx="196596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4"/>
          <p:cNvSpPr txBox="1"/>
          <p:nvPr/>
        </p:nvSpPr>
        <p:spPr>
          <a:xfrm>
            <a:off x="9985248" y="196596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Next token</a:t>
            </a:r>
            <a:endParaRPr/>
          </a:p>
        </p:txBody>
      </p:sp>
      <p:sp>
        <p:nvSpPr>
          <p:cNvPr id="349" name="Google Shape;349;p14"/>
          <p:cNvSpPr txBox="1"/>
          <p:nvPr/>
        </p:nvSpPr>
        <p:spPr>
          <a:xfrm>
            <a:off x="9985248" y="2423160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continue generation</a:t>
            </a:r>
            <a:endParaRPr/>
          </a:p>
        </p:txBody>
      </p:sp>
      <p:sp>
        <p:nvSpPr>
          <p:cNvPr id="350" name="Google Shape;350;p14"/>
          <p:cNvSpPr/>
          <p:nvPr/>
        </p:nvSpPr>
        <p:spPr>
          <a:xfrm>
            <a:off x="1280160" y="3886200"/>
            <a:ext cx="9646920" cy="1188720"/>
          </a:xfrm>
          <a:prstGeom prst="roundRect">
            <a:avLst>
              <a:gd fmla="val 16667" name="adj"/>
            </a:avLst>
          </a:prstGeom>
          <a:solidFill>
            <a:srgbClr val="172033"/>
          </a:solidFill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4"/>
          <p:cNvSpPr txBox="1"/>
          <p:nvPr/>
        </p:nvSpPr>
        <p:spPr>
          <a:xfrm>
            <a:off x="1645920" y="4224528"/>
            <a:ext cx="8915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h′ₜ = hₜ + α · z₆₄₀₄,ₜ · RMS(hₜ) · d₆₄₀₄,base</a:t>
            </a:r>
            <a:endParaRPr/>
          </a:p>
        </p:txBody>
      </p:sp>
      <p:sp>
        <p:nvSpPr>
          <p:cNvPr id="352" name="Google Shape;352;p14"/>
          <p:cNvSpPr txBox="1"/>
          <p:nvPr/>
        </p:nvSpPr>
        <p:spPr>
          <a:xfrm>
            <a:off x="1828800" y="5413248"/>
            <a:ext cx="8503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The intervention changes the next-token distribution; it does not rewrite earlier tokens.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360" name="Google Shape;360;p15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  <p:sp>
        <p:nvSpPr>
          <p:cNvPr id="361" name="Google Shape;361;p15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TOKEN-LEVEL CASE</a:t>
            </a:r>
            <a:endParaRPr/>
          </a:p>
        </p:txBody>
      </p:sp>
      <p:sp>
        <p:nvSpPr>
          <p:cNvPr id="362" name="Google Shape;362;p15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One example: the baseline solved the task, then imported its own test</a:t>
            </a:r>
            <a:endParaRPr/>
          </a:p>
        </p:txBody>
      </p:sp>
      <p:sp>
        <p:nvSpPr>
          <p:cNvPr id="363" name="Google Shape;363;p15"/>
          <p:cNvSpPr/>
          <p:nvPr/>
        </p:nvSpPr>
        <p:spPr>
          <a:xfrm>
            <a:off x="548640" y="1325880"/>
            <a:ext cx="5440680" cy="3566160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9525">
            <a:solidFill>
              <a:srgbClr val="FDBA7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5"/>
          <p:cNvSpPr txBox="1"/>
          <p:nvPr/>
        </p:nvSpPr>
        <p:spPr>
          <a:xfrm>
            <a:off x="868680" y="1627632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BASELINE · FAIL</a:t>
            </a:r>
            <a:endParaRPr/>
          </a:p>
        </p:txBody>
      </p:sp>
      <p:sp>
        <p:nvSpPr>
          <p:cNvPr id="365" name="Google Shape;365;p15"/>
          <p:cNvSpPr txBox="1"/>
          <p:nvPr/>
        </p:nvSpPr>
        <p:spPr>
          <a:xfrm>
            <a:off x="868680" y="2148840"/>
            <a:ext cx="466344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return []</a:t>
            </a:r>
            <a:b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# tests/test_task_func.py</a:t>
            </a:r>
            <a:b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import unittest</a:t>
            </a:r>
            <a:b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from task_func import task_func</a:t>
            </a:r>
            <a:endParaRPr/>
          </a:p>
        </p:txBody>
      </p:sp>
      <p:sp>
        <p:nvSpPr>
          <p:cNvPr id="366" name="Google Shape;366;p15"/>
          <p:cNvSpPr txBox="1"/>
          <p:nvPr/>
        </p:nvSpPr>
        <p:spPr>
          <a:xfrm>
            <a:off x="868680" y="425196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The plausible function body is followed by test/import contamination.</a:t>
            </a:r>
            <a:endParaRPr/>
          </a:p>
        </p:txBody>
      </p:sp>
      <p:sp>
        <p:nvSpPr>
          <p:cNvPr id="367" name="Google Shape;367;p15"/>
          <p:cNvSpPr/>
          <p:nvPr/>
        </p:nvSpPr>
        <p:spPr>
          <a:xfrm>
            <a:off x="6217920" y="1325880"/>
            <a:ext cx="5440680" cy="3566160"/>
          </a:xfrm>
          <a:prstGeom prst="roundRect">
            <a:avLst>
              <a:gd fmla="val 16667" name="adj"/>
            </a:avLst>
          </a:prstGeom>
          <a:solidFill>
            <a:srgbClr val="ECFDF5"/>
          </a:solidFill>
          <a:ln cap="flat" cmpd="sng" w="9525">
            <a:solidFill>
              <a:srgbClr val="6EE7B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 txBox="1"/>
          <p:nvPr/>
        </p:nvSpPr>
        <p:spPr>
          <a:xfrm>
            <a:off x="6537960" y="162763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6404 SUPPRESSION · PASS</a:t>
            </a:r>
            <a:endParaRPr/>
          </a:p>
        </p:txBody>
      </p:sp>
      <p:sp>
        <p:nvSpPr>
          <p:cNvPr id="369" name="Google Shape;369;p15"/>
          <p:cNvSpPr txBox="1"/>
          <p:nvPr/>
        </p:nvSpPr>
        <p:spPr>
          <a:xfrm>
            <a:off x="6537960" y="2148840"/>
            <a:ext cx="466344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return min_subsequence</a:t>
            </a:r>
            <a:b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# task_func({...})</a:t>
            </a:r>
            <a:b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8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# task_func({...})</a:t>
            </a:r>
            <a:endParaRPr/>
          </a:p>
        </p:txBody>
      </p:sp>
      <p:sp>
        <p:nvSpPr>
          <p:cNvPr id="370" name="Google Shape;370;p15"/>
          <p:cNvSpPr txBox="1"/>
          <p:nvPr/>
        </p:nvSpPr>
        <p:spPr>
          <a:xfrm>
            <a:off x="6537960" y="425196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Official pass; no generated test module import.</a:t>
            </a:r>
            <a:endParaRPr/>
          </a:p>
        </p:txBody>
      </p:sp>
      <p:pic>
        <p:nvPicPr>
          <p:cNvPr descr="f6404_task668_trace.png" id="371" name="Google Shape;37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5840" y="5074920"/>
            <a:ext cx="10058400" cy="1170432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15"/>
          <p:cNvSpPr txBox="1"/>
          <p:nvPr/>
        </p:nvSpPr>
        <p:spPr>
          <a:xfrm>
            <a:off x="1828800" y="6336792"/>
            <a:ext cx="8503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Red marks: online steps where feature 6404 entered the active TopK in the steered trajectory.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6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379" name="Google Shape;379;p16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/>
          </a:p>
        </p:txBody>
      </p:sp>
      <p:sp>
        <p:nvSpPr>
          <p:cNvPr id="380" name="Google Shape;380;p16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MAIN CAUSAL RESULT</a:t>
            </a:r>
            <a:endParaRPr/>
          </a:p>
        </p:txBody>
      </p:sp>
      <p:sp>
        <p:nvSpPr>
          <p:cNvPr id="381" name="Google Shape;381;p16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 intervention recovered official passes—not just prettier text</a:t>
            </a:r>
            <a:endParaRPr/>
          </a:p>
        </p:txBody>
      </p:sp>
      <p:sp>
        <p:nvSpPr>
          <p:cNvPr id="382" name="Google Shape;382;p16"/>
          <p:cNvSpPr txBox="1"/>
          <p:nvPr/>
        </p:nvSpPr>
        <p:spPr>
          <a:xfrm>
            <a:off x="822960" y="1600200"/>
            <a:ext cx="4389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19 / 80</a:t>
            </a:r>
            <a:endParaRPr/>
          </a:p>
        </p:txBody>
      </p:sp>
      <p:sp>
        <p:nvSpPr>
          <p:cNvPr id="383" name="Google Shape;383;p16"/>
          <p:cNvSpPr txBox="1"/>
          <p:nvPr/>
        </p:nvSpPr>
        <p:spPr>
          <a:xfrm>
            <a:off x="822960" y="2606040"/>
            <a:ext cx="4389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fail → official pass</a:t>
            </a:r>
            <a:endParaRPr/>
          </a:p>
        </p:txBody>
      </p:sp>
      <p:sp>
        <p:nvSpPr>
          <p:cNvPr id="384" name="Google Shape;384;p16"/>
          <p:cNvSpPr txBox="1"/>
          <p:nvPr/>
        </p:nvSpPr>
        <p:spPr>
          <a:xfrm>
            <a:off x="6400800" y="1600200"/>
            <a:ext cx="4389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0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41 / 80</a:t>
            </a:r>
            <a:endParaRPr/>
          </a:p>
        </p:txBody>
      </p:sp>
      <p:sp>
        <p:nvSpPr>
          <p:cNvPr id="385" name="Google Shape;385;p16"/>
          <p:cNvSpPr txBox="1"/>
          <p:nvPr/>
        </p:nvSpPr>
        <p:spPr>
          <a:xfrm>
            <a:off x="6400800" y="2606040"/>
            <a:ext cx="4389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test/import contamination removed</a:t>
            </a:r>
            <a:endParaRPr/>
          </a:p>
        </p:txBody>
      </p:sp>
      <p:sp>
        <p:nvSpPr>
          <p:cNvPr id="386" name="Google Shape;386;p16"/>
          <p:cNvSpPr/>
          <p:nvPr/>
        </p:nvSpPr>
        <p:spPr>
          <a:xfrm>
            <a:off x="1234440" y="3794760"/>
            <a:ext cx="9738360" cy="1188720"/>
          </a:xfrm>
          <a:prstGeom prst="roundRect">
            <a:avLst>
              <a:gd fmla="val 16667" name="adj"/>
            </a:avLst>
          </a:prstGeom>
          <a:solidFill>
            <a:srgbClr val="EFF6FF"/>
          </a:solidFill>
          <a:ln cap="flat" cmpd="sng" w="9525">
            <a:solidFill>
              <a:srgbClr val="BFDBF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6"/>
          <p:cNvSpPr txBox="1"/>
          <p:nvPr/>
        </p:nvSpPr>
        <p:spPr>
          <a:xfrm>
            <a:off x="1600200" y="4187952"/>
            <a:ext cx="9006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α = −2   ·   TopK-gated   ·   exact code evaluated with extraction v4</a:t>
            </a:r>
            <a:endParaRPr/>
          </a:p>
        </p:txBody>
      </p:sp>
      <p:sp>
        <p:nvSpPr>
          <p:cNvPr id="388" name="Google Shape;388;p16"/>
          <p:cNvSpPr txBox="1"/>
          <p:nvPr/>
        </p:nvSpPr>
        <p:spPr>
          <a:xfrm>
            <a:off x="1828800" y="5394960"/>
            <a:ext cx="8503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Cohort selected for this mechanism; do not read 23.75% as general benchmark gain.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7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395" name="Google Shape;395;p17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/>
          </a:p>
        </p:txBody>
      </p:sp>
      <p:sp>
        <p:nvSpPr>
          <p:cNvPr id="396" name="Google Shape;396;p17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SPECIFICITY</a:t>
            </a:r>
            <a:endParaRPr/>
          </a:p>
        </p:txBody>
      </p:sp>
      <p:sp>
        <p:nvSpPr>
          <p:cNvPr id="397" name="Google Shape;397;p17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Matched controls isolate the 6404 direction</a:t>
            </a:r>
            <a:endParaRPr/>
          </a:p>
        </p:txBody>
      </p:sp>
      <p:pic>
        <p:nvPicPr>
          <p:cNvPr descr="matched_controls.png" id="398" name="Google Shape;39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1325880"/>
            <a:ext cx="7909560" cy="4384236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17"/>
          <p:cNvSpPr/>
          <p:nvPr/>
        </p:nvSpPr>
        <p:spPr>
          <a:xfrm>
            <a:off x="8732520" y="1600200"/>
            <a:ext cx="2514600" cy="3977639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7"/>
          <p:cNvSpPr txBox="1"/>
          <p:nvPr/>
        </p:nvSpPr>
        <p:spPr>
          <a:xfrm>
            <a:off x="9052560" y="1874519"/>
            <a:ext cx="18745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Controls matched</a:t>
            </a:r>
            <a:endParaRPr/>
          </a:p>
        </p:txBody>
      </p:sp>
      <p:sp>
        <p:nvSpPr>
          <p:cNvPr id="401" name="Google Shape;401;p17"/>
          <p:cNvSpPr txBox="1"/>
          <p:nvPr/>
        </p:nvSpPr>
        <p:spPr>
          <a:xfrm>
            <a:off x="9052560" y="2395728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402" name="Google Shape;402;p17"/>
          <p:cNvSpPr txBox="1"/>
          <p:nvPr/>
        </p:nvSpPr>
        <p:spPr>
          <a:xfrm>
            <a:off x="9326880" y="2395728"/>
            <a:ext cx="1554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decoder norm</a:t>
            </a:r>
            <a:endParaRPr/>
          </a:p>
        </p:txBody>
      </p:sp>
      <p:sp>
        <p:nvSpPr>
          <p:cNvPr id="403" name="Google Shape;403;p17"/>
          <p:cNvSpPr txBox="1"/>
          <p:nvPr/>
        </p:nvSpPr>
        <p:spPr>
          <a:xfrm>
            <a:off x="9052560" y="2898648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404" name="Google Shape;404;p17"/>
          <p:cNvSpPr txBox="1"/>
          <p:nvPr/>
        </p:nvSpPr>
        <p:spPr>
          <a:xfrm>
            <a:off x="9326880" y="2898648"/>
            <a:ext cx="1554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activation support</a:t>
            </a:r>
            <a:endParaRPr/>
          </a:p>
        </p:txBody>
      </p:sp>
      <p:sp>
        <p:nvSpPr>
          <p:cNvPr id="405" name="Google Shape;405;p17"/>
          <p:cNvSpPr txBox="1"/>
          <p:nvPr/>
        </p:nvSpPr>
        <p:spPr>
          <a:xfrm>
            <a:off x="9052560" y="3401568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406" name="Google Shape;406;p17"/>
          <p:cNvSpPr txBox="1"/>
          <p:nvPr/>
        </p:nvSpPr>
        <p:spPr>
          <a:xfrm>
            <a:off x="9326880" y="3401568"/>
            <a:ext cx="1554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temporal profile</a:t>
            </a:r>
            <a:endParaRPr/>
          </a:p>
        </p:txBody>
      </p:sp>
      <p:sp>
        <p:nvSpPr>
          <p:cNvPr id="407" name="Google Shape;407;p17"/>
          <p:cNvSpPr txBox="1"/>
          <p:nvPr/>
        </p:nvSpPr>
        <p:spPr>
          <a:xfrm>
            <a:off x="9052560" y="3904488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408" name="Google Shape;408;p17"/>
          <p:cNvSpPr txBox="1"/>
          <p:nvPr/>
        </p:nvSpPr>
        <p:spPr>
          <a:xfrm>
            <a:off x="9326880" y="3904488"/>
            <a:ext cx="1554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online gate activity</a:t>
            </a:r>
            <a:endParaRPr/>
          </a:p>
        </p:txBody>
      </p:sp>
      <p:sp>
        <p:nvSpPr>
          <p:cNvPr id="409" name="Google Shape;409;p17"/>
          <p:cNvSpPr txBox="1"/>
          <p:nvPr/>
        </p:nvSpPr>
        <p:spPr>
          <a:xfrm>
            <a:off x="9052560" y="452628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vs sham</a:t>
            </a:r>
            <a:endParaRPr/>
          </a:p>
        </p:txBody>
      </p:sp>
      <p:sp>
        <p:nvSpPr>
          <p:cNvPr id="410" name="Google Shape;410;p17"/>
          <p:cNvSpPr txBox="1"/>
          <p:nvPr/>
        </p:nvSpPr>
        <p:spPr>
          <a:xfrm>
            <a:off x="9052560" y="4828032"/>
            <a:ext cx="1874519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pass p ≈ 3.8×10⁻⁶</a:t>
            </a:r>
            <a:br>
              <a:rPr b="1" i="0" lang="en-US" sz="13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3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cleanup p ≈ 9.1×10⁻¹³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8"/>
          <p:cNvSpPr txBox="1"/>
          <p:nvPr/>
        </p:nvSpPr>
        <p:spPr>
          <a:xfrm>
            <a:off x="594360" y="6547104"/>
            <a:ext cx="6400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DSTK100 · preliminary causal model diffing</a:t>
            </a:r>
            <a:endParaRPr/>
          </a:p>
        </p:txBody>
      </p:sp>
      <p:sp>
        <p:nvSpPr>
          <p:cNvPr id="417" name="Google Shape;417;p18"/>
          <p:cNvSpPr txBox="1"/>
          <p:nvPr/>
        </p:nvSpPr>
        <p:spPr>
          <a:xfrm>
            <a:off x="11201400" y="6510528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/>
          </a:p>
        </p:txBody>
      </p:sp>
      <p:sp>
        <p:nvSpPr>
          <p:cNvPr id="418" name="Google Shape;418;p18"/>
          <p:cNvSpPr txBox="1"/>
          <p:nvPr/>
        </p:nvSpPr>
        <p:spPr>
          <a:xfrm>
            <a:off x="594360" y="29260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NON-MONOTONICITY</a:t>
            </a:r>
            <a:endParaRPr/>
          </a:p>
        </p:txBody>
      </p:sp>
      <p:sp>
        <p:nvSpPr>
          <p:cNvPr id="419" name="Google Shape;419;p18"/>
          <p:cNvSpPr txBox="1"/>
          <p:nvPr/>
        </p:nvSpPr>
        <p:spPr>
          <a:xfrm>
            <a:off x="594360" y="65836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Steering is not a volume knob</a:t>
            </a:r>
            <a:endParaRPr/>
          </a:p>
        </p:txBody>
      </p:sp>
      <p:pic>
        <p:nvPicPr>
          <p:cNvPr descr="dense_curve_redrawn.png" id="420" name="Google Shape;42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60" y="1234440"/>
            <a:ext cx="8046720" cy="4465065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18"/>
          <p:cNvSpPr/>
          <p:nvPr/>
        </p:nvSpPr>
        <p:spPr>
          <a:xfrm>
            <a:off x="8915400" y="1554480"/>
            <a:ext cx="2377440" cy="4160520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9525">
            <a:solidFill>
              <a:srgbClr val="FED7A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8"/>
          <p:cNvSpPr txBox="1"/>
          <p:nvPr/>
        </p:nvSpPr>
        <p:spPr>
          <a:xfrm>
            <a:off x="9217152" y="1847088"/>
            <a:ext cx="1783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Why jagged?</a:t>
            </a:r>
            <a:endParaRPr/>
          </a:p>
        </p:txBody>
      </p:sp>
      <p:sp>
        <p:nvSpPr>
          <p:cNvPr id="423" name="Google Shape;423;p18"/>
          <p:cNvSpPr txBox="1"/>
          <p:nvPr/>
        </p:nvSpPr>
        <p:spPr>
          <a:xfrm>
            <a:off x="9217152" y="2377440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424" name="Google Shape;424;p18"/>
          <p:cNvSpPr txBox="1"/>
          <p:nvPr/>
        </p:nvSpPr>
        <p:spPr>
          <a:xfrm>
            <a:off x="9491472" y="2377440"/>
            <a:ext cx="146303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Token choice is discrete.</a:t>
            </a:r>
            <a:endParaRPr/>
          </a:p>
        </p:txBody>
      </p:sp>
      <p:sp>
        <p:nvSpPr>
          <p:cNvPr id="425" name="Google Shape;425;p18"/>
          <p:cNvSpPr txBox="1"/>
          <p:nvPr/>
        </p:nvSpPr>
        <p:spPr>
          <a:xfrm>
            <a:off x="9217152" y="2907792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426" name="Google Shape;426;p18"/>
          <p:cNvSpPr txBox="1"/>
          <p:nvPr/>
        </p:nvSpPr>
        <p:spPr>
          <a:xfrm>
            <a:off x="9491472" y="2907792"/>
            <a:ext cx="146303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One token changes the future context.</a:t>
            </a:r>
            <a:endParaRPr/>
          </a:p>
        </p:txBody>
      </p:sp>
      <p:sp>
        <p:nvSpPr>
          <p:cNvPr id="427" name="Google Shape;427;p18"/>
          <p:cNvSpPr txBox="1"/>
          <p:nvPr/>
        </p:nvSpPr>
        <p:spPr>
          <a:xfrm>
            <a:off x="9217152" y="3438144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428" name="Google Shape;428;p18"/>
          <p:cNvSpPr txBox="1"/>
          <p:nvPr/>
        </p:nvSpPr>
        <p:spPr>
          <a:xfrm>
            <a:off x="9491472" y="3438144"/>
            <a:ext cx="146303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Future gates then change.</a:t>
            </a:r>
            <a:endParaRPr/>
          </a:p>
        </p:txBody>
      </p:sp>
      <p:sp>
        <p:nvSpPr>
          <p:cNvPr id="429" name="Google Shape;429;p18"/>
          <p:cNvSpPr txBox="1"/>
          <p:nvPr/>
        </p:nvSpPr>
        <p:spPr>
          <a:xfrm>
            <a:off x="9217152" y="3968496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430" name="Google Shape;430;p18"/>
          <p:cNvSpPr txBox="1"/>
          <p:nvPr/>
        </p:nvSpPr>
        <p:spPr>
          <a:xfrm>
            <a:off x="9491472" y="3968496"/>
            <a:ext cx="146303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Pass/fail is discontinuous.</a:t>
            </a:r>
            <a:endParaRPr/>
          </a:p>
        </p:txBody>
      </p:sp>
      <p:sp>
        <p:nvSpPr>
          <p:cNvPr id="431" name="Google Shape;431;p18"/>
          <p:cNvSpPr txBox="1"/>
          <p:nvPr/>
        </p:nvSpPr>
        <p:spPr>
          <a:xfrm>
            <a:off x="9217152" y="4498848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/>
          </a:p>
        </p:txBody>
      </p:sp>
      <p:sp>
        <p:nvSpPr>
          <p:cNvPr id="432" name="Google Shape;432;p18"/>
          <p:cNvSpPr txBox="1"/>
          <p:nvPr/>
        </p:nvSpPr>
        <p:spPr>
          <a:xfrm>
            <a:off x="9491472" y="4498848"/>
            <a:ext cx="146303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Arial"/>
                <a:ea typeface="Arial"/>
                <a:cs typeface="Arial"/>
                <a:sym typeface="Arial"/>
              </a:rPr>
              <a:t>One seed per task adds noise.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