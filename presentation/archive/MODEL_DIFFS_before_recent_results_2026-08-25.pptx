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3"/>
    <p:sldId id="273" r:id="rId24"/>
    <p:sldId id="274" r:id="rId25"/>
    <p:sldId id="275" r:id="rId26"/>
    <p:sldId id="276" r:id="rId27"/>
    <p:sldId id="277" r:id="rId2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EwpJ7hL5b486aSj4LGLozX+kM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customschemas.google.com/relationships/presentationmetadata" Target="metadata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with the behavioral paradox, not the architecture. The scientific question is whether a shared sparse representation can explain why the models diverge.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Representative task: BigCodeBench/668. Show the exact full outputs in the appendix/source data if challenged; the slide uses a compact excerpt. Active gate steps were 8, 113, and 152 of 251 generated-token steps.</a:t>
            </a:r>
            <a:endParaRPr/>
          </a:p>
        </p:txBody>
      </p:sp>
      <p:sp>
        <p:nvSpPr>
          <p:cNvPr id="356" name="Google Shape;35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40080" y="960120"/>
            <a:ext cx="75895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MODEL DIFFS</a:t>
            </a:r>
            <a:b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CAUSAL MECHANISMS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278892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Using a CrossCoder to explain behavioral differences</a:t>
            </a:r>
            <a:br>
              <a:rPr b="0" i="0" lang="en-US" sz="2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between base and fine-tuned code models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8458200" y="731520"/>
            <a:ext cx="2926080" cy="4983480"/>
          </a:xfrm>
          <a:prstGeom prst="roundRect">
            <a:avLst>
              <a:gd fmla="val 16667" name="adj"/>
            </a:avLst>
          </a:prstGeom>
          <a:solidFill>
            <a:srgbClr val="17203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823960" y="109728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The case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8823960" y="1554480"/>
            <a:ext cx="20574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model solved</a:t>
            </a:r>
            <a:b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task—then</a:t>
            </a:r>
            <a:b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kept writing.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823960" y="379476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 single latent feature helped control that continuation.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evaluation tells us what changed. The CrossCoder asks why.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85800" y="1828800"/>
            <a:ext cx="5166360" cy="347472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327648" y="1828800"/>
            <a:ext cx="5166360" cy="34747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51560" y="22128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6693408" y="22128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REPRESENTATION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051560" y="27889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325880" y="27889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Base passes / fine-tuned fails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051560" y="34015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325880" y="3401568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Base fails / fine-tuned passes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051560" y="4014215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325880" y="4014215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What kind of error occurred?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693408" y="27889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967728" y="27889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Paired layer-16 residuals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6693408" y="34015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967728" y="3401568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Shared sparse features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6693408" y="4014215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6967728" y="4014215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Decoder directions for intervention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Behavior localizes the difference. Features turn it into a testable hypothesis.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-66300" y="-742100"/>
            <a:ext cx="121917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11150200" y="6416703"/>
            <a:ext cx="3201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543160" y="198783"/>
            <a:ext cx="10972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543160" y="564543"/>
            <a:ext cx="10972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11827"/>
                </a:solidFill>
              </a:rPr>
              <a:t>First case study: DeepSeek base ↔ fine-tuned model diffing (</a:t>
            </a:r>
            <a:r>
              <a:rPr b="1" lang="en-US" sz="2500">
                <a:solidFill>
                  <a:srgbClr val="111827"/>
                </a:solidFill>
              </a:rPr>
              <a:t>DSTK100)</a:t>
            </a:r>
            <a:endParaRPr b="1" sz="2500">
              <a:solidFill>
                <a:srgbClr val="111827"/>
              </a:solidFill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03170" y="2062144"/>
            <a:ext cx="2057400" cy="96000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931770" y="2245025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31770" y="2546777"/>
            <a:ext cx="15546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layer 16</a:t>
            </a:r>
            <a:endParaRPr>
              <a:solidFill>
                <a:srgbClr val="93C5FD"/>
              </a:solidFill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03170" y="3433745"/>
            <a:ext cx="2057400" cy="9600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931770" y="3616625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FINE-TUNED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931770" y="3918377"/>
            <a:ext cx="15546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layer 16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3034890" y="2930825"/>
            <a:ext cx="1188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same tokens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4269330" y="2427905"/>
            <a:ext cx="2834700" cy="1965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4589370" y="2793665"/>
            <a:ext cx="21945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CROSSCODER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4589370" y="3250865"/>
            <a:ext cx="2194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16,384 latents</a:t>
            </a:r>
            <a:b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ReLU + TopK 100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3446370" y="3049697"/>
            <a:ext cx="502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7332570" y="3049697"/>
            <a:ext cx="502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7918400" y="2084900"/>
            <a:ext cx="3429000" cy="243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8329885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8686501" y="2587820"/>
            <a:ext cx="210300" cy="2103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9043117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9399733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9756349" y="2587820"/>
            <a:ext cx="210300" cy="2103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10112965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0469581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8238445" y="3090740"/>
            <a:ext cx="27432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100 active features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8238445" y="3502220"/>
            <a:ext cx="27432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 evaluated token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863250" y="4868683"/>
            <a:ext cx="103326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2,608 code texts   ·   617,959 evaluated tokens   ·   same-text alignment</a:t>
            </a:r>
            <a:endParaRPr/>
          </a:p>
        </p:txBody>
      </p:sp>
      <p:grpSp>
        <p:nvGrpSpPr>
          <p:cNvPr id="151" name="Google Shape;151;p3"/>
          <p:cNvGrpSpPr/>
          <p:nvPr/>
        </p:nvGrpSpPr>
        <p:grpSpPr>
          <a:xfrm>
            <a:off x="466938" y="5323160"/>
            <a:ext cx="11049000" cy="1428900"/>
            <a:chOff x="0" y="0"/>
            <a:chExt cx="11049000" cy="1428900"/>
          </a:xfrm>
        </p:grpSpPr>
        <p:sp>
          <p:nvSpPr>
            <p:cNvPr id="152" name="Google Shape;152;p3"/>
            <p:cNvSpPr txBox="1"/>
            <p:nvPr/>
          </p:nvSpPr>
          <p:spPr>
            <a:xfrm>
              <a:off x="0" y="0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Method Lineage</a:t>
              </a:r>
              <a:endParaRPr b="1" sz="9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Based on </a:t>
              </a:r>
              <a:r>
                <a:rPr i="1"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Sparse Crosscoders for Cross-Layer Features and Model Diffing</a:t>
              </a:r>
              <a:r>
                <a:rPr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(Lindsey et al., 2024). TopK sparsity follows the sparse-autoencoder design studied by Gao et al. (2024). </a:t>
              </a:r>
              <a:r>
                <a:rPr b="1"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DSTK100</a:t>
              </a:r>
              <a:r>
                <a:rPr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is our same-text, layer-16, TopK-100 implementation.</a:t>
              </a:r>
              <a:endParaRPr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"/>
            <p:cNvSpPr txBox="1"/>
            <p:nvPr/>
          </p:nvSpPr>
          <p:spPr>
            <a:xfrm>
              <a:off x="5715000" y="0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References</a:t>
              </a:r>
              <a:endParaRPr b="1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• Lindsey, J. et al. "Sparse Crosscoders for Cross-Layer Features and Model Diffing." </a:t>
              </a:r>
              <a:r>
                <a:rPr i="1"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Transformer Circuits</a:t>
              </a:r>
              <a:r>
                <a:rPr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, 2024.</a:t>
              </a:r>
              <a:endParaRPr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• Gao, L. et al. "Scaling and Evaluating Sparse Autoencoders." 2024.</a:t>
              </a:r>
              <a:endParaRPr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594360" y="6547104"/>
            <a:ext cx="64008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594360" y="292608"/>
            <a:ext cx="10972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BEHAVIORAL MAP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594360" y="658368"/>
            <a:ext cx="10972800" cy="45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Ours Results to </a:t>
            </a:r>
            <a:r>
              <a:rPr b="1" lang="en-US" sz="2500">
                <a:solidFill>
                  <a:srgbClr val="111827"/>
                </a:solidFill>
              </a:rPr>
              <a:t>DSTK100</a:t>
            </a:r>
            <a:r>
              <a:rPr b="1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agrees with ReCatcher</a:t>
            </a:r>
            <a:endParaRPr b="1" sz="24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ansition_balance.png" id="162" name="Google Shape;1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28750"/>
            <a:ext cx="6286500" cy="232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4"/>
          <p:cNvGrpSpPr/>
          <p:nvPr/>
        </p:nvGrpSpPr>
        <p:grpSpPr>
          <a:xfrm>
            <a:off x="594360" y="3952875"/>
            <a:ext cx="1809600" cy="1428900"/>
            <a:chOff x="0" y="0"/>
            <a:chExt cx="1809600" cy="1428900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8096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0" y="0"/>
              <a:ext cx="1809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343</a:t>
              </a:r>
              <a:endParaRPr b="1" sz="3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One-Sided Transitions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Total instances where models diverged</a:t>
              </a:r>
              <a:endParaRPr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2667000" y="3952875"/>
            <a:ext cx="2095500" cy="1428900"/>
            <a:chOff x="0" y="0"/>
            <a:chExt cx="2095500" cy="1428900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2095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0" y="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257</a:t>
              </a:r>
              <a:endParaRPr b="1" sz="34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47857"/>
                  </a:solidFill>
                  <a:latin typeface="Arial"/>
                  <a:ea typeface="Arial"/>
                  <a:cs typeface="Arial"/>
                  <a:sym typeface="Arial"/>
                </a:rPr>
                <a:t>Improvements</a:t>
              </a:r>
              <a:endParaRPr b="1" sz="1100">
                <a:solidFill>
                  <a:srgbClr val="0478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i="1" lang="en-US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base fail → FT pass</a:t>
              </a:r>
              <a:endParaRPr i="1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HumanEval+: 42</a:t>
              </a:r>
              <a:b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BigCodeBench: 215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4953000" y="3952875"/>
            <a:ext cx="2095500" cy="1428900"/>
            <a:chOff x="0" y="0"/>
            <a:chExt cx="2095500" cy="1428900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2095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 txBox="1"/>
            <p:nvPr/>
          </p:nvSpPr>
          <p:spPr>
            <a:xfrm>
              <a:off x="0" y="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86</a:t>
              </a:r>
              <a:endParaRPr b="1" sz="34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Regressions</a:t>
              </a:r>
              <a:endParaRPr b="1" sz="11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i="1" lang="en-US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base pass → FT fail</a:t>
              </a:r>
              <a:endParaRPr i="1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HumanEval+: 7</a:t>
              </a:r>
              <a:b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BigCodeBench: 79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4"/>
          <p:cNvSpPr/>
          <p:nvPr/>
        </p:nvSpPr>
        <p:spPr>
          <a:xfrm>
            <a:off x="7239000" y="1428750"/>
            <a:ext cx="4358700" cy="4143300"/>
          </a:xfrm>
          <a:prstGeom prst="roundRect">
            <a:avLst>
              <a:gd fmla="val 3678" name="adj"/>
            </a:avLst>
          </a:prstGeom>
          <a:solidFill>
            <a:srgbClr val="F8FAFC"/>
          </a:solidFill>
          <a:ln cap="flat" cmpd="sng" w="1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4"/>
          <p:cNvGrpSpPr/>
          <p:nvPr/>
        </p:nvGrpSpPr>
        <p:grpSpPr>
          <a:xfrm>
            <a:off x="7429500" y="1571625"/>
            <a:ext cx="3977700" cy="3857700"/>
            <a:chOff x="0" y="0"/>
            <a:chExt cx="3977700" cy="3857700"/>
          </a:xfrm>
        </p:grpSpPr>
        <p:sp>
          <p:nvSpPr>
            <p:cNvPr id="174" name="Google Shape;174;p4"/>
            <p:cNvSpPr/>
            <p:nvPr/>
          </p:nvSpPr>
          <p:spPr>
            <a:xfrm>
              <a:off x="0" y="0"/>
              <a:ext cx="3977700" cy="385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0" y="0"/>
              <a:ext cx="3977700" cy="38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Agreement with ReCatcher</a:t>
              </a:r>
              <a:endParaRPr b="1" sz="14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ReCatcher reported that Kotlin fine-tuning improved aggregate General Logic for DeepSeek-Coder, despite introducing localized regressions—particularly syntax errors.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ReCatcher · DeepSeek FT vs original</a:t>
              </a:r>
              <a:endParaRPr b="1" sz="10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HumanEval+: 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+14.94%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 Incorrect Code / General Logic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BigCodeBench: 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9.32%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 Incorrect Code / General Logic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Our paired evaluation</a:t>
              </a:r>
              <a:endParaRPr b="1" sz="10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HumanEval+: 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+22.57 pp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 pass rate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BigCodeBench: 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+7.19 pp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 pass rate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Improvements outnumbered regressions by </a:t>
              </a: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~3:1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overall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* The magnitudes are not directly comparable: ReCatcher used 10 generations per prompt and its own regression-percentage definition; our study used one canonical generation per task and official paired evaluation.</a:t>
              </a:r>
              <a:endPara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-US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Abbassi et al., ReCatcher: Towards LLMs Regression Testing for Code Generation, 2025.</a:t>
              </a:r>
              <a:endParaRPr i="1"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4"/>
          <p:cNvSpPr/>
          <p:nvPr/>
        </p:nvSpPr>
        <p:spPr>
          <a:xfrm>
            <a:off x="784860" y="5810250"/>
            <a:ext cx="106224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FEATURE SCREENING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 ranked stable contrasts—not raw activation alone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457200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594360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4 summaries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594360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max · early_max</a:t>
            </a:r>
            <a:b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mean · active fraction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2377440" y="24871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2788920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2926079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Δ per task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2926079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aggregate(FT text)</a:t>
            </a:r>
            <a:b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− aggregate(base text)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4709160" y="24871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5120640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5257800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Observed effect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5257800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mean Δ positives</a:t>
            </a:r>
            <a:b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− mean Δ controls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7040879" y="24871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7452359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7589519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200 permutations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7589519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shuffle labels;</a:t>
            </a:r>
            <a:b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recompute effect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9372599" y="24871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9784080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9921240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E/V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9921240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effect ÷ null SD</a:t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914400" y="4343400"/>
            <a:ext cx="10332720" cy="105156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1234440" y="4617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Minimum support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2743200" y="459028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max(3 tasks, 10% of positives)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5806440" y="457200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E/V is a permutation signal-to-noise score—not a z-score or a p-value.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SCREENING RESULT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6404 ranked #2—and the result was specification-robust</a:t>
            </a:r>
            <a:endParaRPr/>
          </a:p>
        </p:txBody>
      </p:sp>
      <p:pic>
        <p:nvPicPr>
          <p:cNvPr descr="ev_top10.png" id="218" name="Google Shape;2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71600"/>
            <a:ext cx="7498079" cy="398462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8366760" y="1645920"/>
            <a:ext cx="2971800" cy="35204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8732520" y="201168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6404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8732520" y="277063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E/V 4.47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8732520" y="324612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47 / 79 support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8641080" y="3950208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Same Top 10 with all four aggregations or E/V alone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SELECTION LOGIC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good causal candidate aligns meaning, failure mode, and timing</a:t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594360" y="1828800"/>
            <a:ext cx="333756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822960" y="221284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/>
          </a:p>
        </p:txBody>
      </p:sp>
      <p:sp>
        <p:nvSpPr>
          <p:cNvPr id="235" name="Google Shape;235;p9"/>
          <p:cNvSpPr txBox="1"/>
          <p:nvPr/>
        </p:nvSpPr>
        <p:spPr>
          <a:xfrm>
            <a:off x="914400" y="28529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tokens and contexts</a:t>
            </a:r>
            <a:b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activate the feature?</a:t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4416552" y="1828800"/>
            <a:ext cx="333756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4645152" y="221284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FAILURE MODE</a:t>
            </a:r>
            <a:endParaRPr/>
          </a:p>
        </p:txBody>
      </p:sp>
      <p:sp>
        <p:nvSpPr>
          <p:cNvPr id="238" name="Google Shape;238;p9"/>
          <p:cNvSpPr txBox="1"/>
          <p:nvPr/>
        </p:nvSpPr>
        <p:spPr>
          <a:xfrm>
            <a:off x="4736592" y="28529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behavioral transition</a:t>
            </a:r>
            <a:b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is it associated with?</a:t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8238744" y="1828800"/>
            <a:ext cx="333756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8467344" y="221284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8558784" y="28529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Does activation precede</a:t>
            </a:r>
            <a:b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relevant decision?</a:t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Semantic clarity alone is not enough: a late feature may be a consequence or style marker.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50" name="Google Shape;250;p10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TEMPORAL PLAUSIBILITY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First-activation position separates plausible causes from late markers</a:t>
            </a:r>
            <a:endParaRPr/>
          </a:p>
        </p:txBody>
      </p:sp>
      <p:pic>
        <p:nvPicPr>
          <p:cNvPr descr="feature_first_activation.png"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34440"/>
            <a:ext cx="7955279" cy="394404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"/>
          <p:cNvSpPr/>
          <p:nvPr/>
        </p:nvSpPr>
        <p:spPr>
          <a:xfrm>
            <a:off x="8823960" y="1554480"/>
            <a:ext cx="2514600" cy="406908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9144000" y="1874519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255" name="Google Shape;255;p10"/>
          <p:cNvSpPr txBox="1"/>
          <p:nvPr/>
        </p:nvSpPr>
        <p:spPr>
          <a:xfrm>
            <a:off x="9144000" y="2331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12956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9144000" y="27889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Expected output / examples</a:t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9144000" y="365760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Semantically clear—often too late to explain the implementation decision.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MECHANISTIC DISCOVERY</a:t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pearl: many ‘improvements’ were simply cleaner stopping behavior</a:t>
            </a:r>
            <a:endParaRPr/>
          </a:p>
        </p:txBody>
      </p:sp>
      <p:sp>
        <p:nvSpPr>
          <p:cNvPr id="267" name="Google Shape;267;p11"/>
          <p:cNvSpPr txBox="1"/>
          <p:nvPr/>
        </p:nvSpPr>
        <p:spPr>
          <a:xfrm>
            <a:off x="822960" y="150876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119 / 215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822960" y="2286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BigCodeBench improvements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822960" y="292608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868680" y="3867912"/>
            <a:ext cx="3749039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test/import contamination in the base output</a:t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5166360" y="1325880"/>
            <a:ext cx="5989320" cy="4160520"/>
          </a:xfrm>
          <a:prstGeom prst="roundRect">
            <a:avLst>
              <a:gd fmla="val 16667" name="adj"/>
            </a:avLst>
          </a:prstGeom>
          <a:solidFill>
            <a:srgbClr val="17203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 txBox="1"/>
          <p:nvPr/>
        </p:nvSpPr>
        <p:spPr>
          <a:xfrm>
            <a:off x="5532120" y="1783080"/>
            <a:ext cx="525780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def task_func(...):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... plausible solution ...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-# tests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-from task_func import task_func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5532120" y="4434840"/>
            <a:ext cx="5257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The fine-tuned model often won by stopping—not by implementing a different algorithm.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FEATURE INTERPRETATION</a:t>
            </a:r>
            <a:endParaRPr/>
          </a:p>
        </p:txBody>
      </p:sp>
      <p:sp>
        <p:nvSpPr>
          <p:cNvPr id="282" name="Google Shape;282;p12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6404 matched the semantics of post-solution continuation</a:t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685800" y="1508760"/>
            <a:ext cx="4754880" cy="40690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1051560" y="18288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6404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1051560" y="2514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Dominant activation contexts</a:t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1234440" y="29718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expected</a:t>
            </a:r>
            <a:endParaRPr/>
          </a:p>
        </p:txBody>
      </p:sp>
      <p:sp>
        <p:nvSpPr>
          <p:cNvPr id="287" name="Google Shape;287;p12"/>
          <p:cNvSpPr txBox="1"/>
          <p:nvPr/>
        </p:nvSpPr>
        <p:spPr>
          <a:xfrm>
            <a:off x="1234440" y="344728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should</a:t>
            </a:r>
            <a:endParaRPr/>
          </a:p>
        </p:txBody>
      </p:sp>
      <p:sp>
        <p:nvSpPr>
          <p:cNvPr id="288" name="Google Shape;288;p12"/>
          <p:cNvSpPr txBox="1"/>
          <p:nvPr/>
        </p:nvSpPr>
        <p:spPr>
          <a:xfrm>
            <a:off x="1234440" y="3922776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assumptions / caveats</a:t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1234440" y="4398264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comments and boilerplate</a:t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806440" y="1508760"/>
            <a:ext cx="5440680" cy="4069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6217920" y="1874519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6217920" y="2606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contamination cases</a:t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8229600" y="20574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/>
          </a:p>
        </p:txBody>
      </p:sp>
      <p:sp>
        <p:nvSpPr>
          <p:cNvPr id="294" name="Google Shape;294;p12"/>
          <p:cNvSpPr txBox="1"/>
          <p:nvPr/>
        </p:nvSpPr>
        <p:spPr>
          <a:xfrm>
            <a:off x="8823960" y="1874519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8823960" y="2606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other improvements</a:t>
            </a:r>
            <a:endParaRPr/>
          </a:p>
        </p:txBody>
      </p:sp>
      <p:sp>
        <p:nvSpPr>
          <p:cNvPr id="296" name="Google Shape;296;p12"/>
          <p:cNvSpPr txBox="1"/>
          <p:nvPr/>
        </p:nvSpPr>
        <p:spPr>
          <a:xfrm>
            <a:off x="6492240" y="36576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Exploratory odds ratio ≈ 4.44</a:t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6400800" y="438912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Association generated the hypothesis; it did not establish causality.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05" name="Google Shape;305;p13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CAUSAL DESIGN</a:t>
            </a:r>
            <a:endParaRPr/>
          </a:p>
        </p:txBody>
      </p:sp>
      <p:sp>
        <p:nvSpPr>
          <p:cNvPr id="306" name="Google Shape;306;p13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deliberately selected cohort turned the hypothesis into a test</a:t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640080" y="1691640"/>
            <a:ext cx="237744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 txBox="1"/>
          <p:nvPr/>
        </p:nvSpPr>
        <p:spPr>
          <a:xfrm>
            <a:off x="1463040" y="196596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09" name="Google Shape;309;p13"/>
          <p:cNvSpPr txBox="1"/>
          <p:nvPr/>
        </p:nvSpPr>
        <p:spPr>
          <a:xfrm>
            <a:off x="868680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Base failed</a:t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3429000" y="1691640"/>
            <a:ext cx="237744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/>
          <p:nvPr/>
        </p:nvSpPr>
        <p:spPr>
          <a:xfrm>
            <a:off x="4251960" y="196596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12" name="Google Shape;312;p13"/>
          <p:cNvSpPr txBox="1"/>
          <p:nvPr/>
        </p:nvSpPr>
        <p:spPr>
          <a:xfrm>
            <a:off x="3657600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Fine-tuned passed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6217920" y="1691640"/>
            <a:ext cx="237744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 txBox="1"/>
          <p:nvPr/>
        </p:nvSpPr>
        <p:spPr>
          <a:xfrm>
            <a:off x="7040880" y="196596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6446520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Base generated tests/imports</a:t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9006839" y="1691640"/>
            <a:ext cx="237744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9829799" y="196596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9235439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6404 was naturally active</a:t>
            </a:r>
            <a:endParaRPr/>
          </a:p>
        </p:txBody>
      </p:sp>
      <p:sp>
        <p:nvSpPr>
          <p:cNvPr id="319" name="Google Shape;319;p13"/>
          <p:cNvSpPr txBox="1"/>
          <p:nvPr/>
        </p:nvSpPr>
        <p:spPr>
          <a:xfrm>
            <a:off x="4251960" y="416052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320" name="Google Shape;320;p13"/>
          <p:cNvSpPr txBox="1"/>
          <p:nvPr/>
        </p:nvSpPr>
        <p:spPr>
          <a:xfrm>
            <a:off x="5394960" y="43434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mechanistic cases</a:t>
            </a:r>
            <a:endParaRPr/>
          </a:p>
        </p:txBody>
      </p:sp>
      <p:sp>
        <p:nvSpPr>
          <p:cNvPr id="321" name="Google Shape;321;p13"/>
          <p:cNvSpPr txBox="1"/>
          <p:nvPr/>
        </p:nvSpPr>
        <p:spPr>
          <a:xfrm>
            <a:off x="2743200" y="5257800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Selected for mechanism—not an out-of-sample estimate.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28" name="Google Shape;328;p14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29" name="Google Shape;329;p1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ONLINE GATED STEERING</a:t>
            </a:r>
            <a:endParaRPr/>
          </a:p>
        </p:txBody>
      </p:sp>
      <p:sp>
        <p:nvSpPr>
          <p:cNvPr id="330" name="Google Shape;330;p14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 intervened only when 6404 entered the natural TopK</a:t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411480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548640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Current token</a:t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548640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capture layer 16</a:t>
            </a:r>
            <a:endParaRPr/>
          </a:p>
        </p:txBody>
      </p:sp>
      <p:sp>
        <p:nvSpPr>
          <p:cNvPr id="334" name="Google Shape;334;p14"/>
          <p:cNvSpPr txBox="1"/>
          <p:nvPr/>
        </p:nvSpPr>
        <p:spPr>
          <a:xfrm>
            <a:off x="2377440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2770632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2907792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Paired residuals</a:t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2907792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RMS normalize</a:t>
            </a:r>
            <a:endParaRPr/>
          </a:p>
        </p:txBody>
      </p:sp>
      <p:sp>
        <p:nvSpPr>
          <p:cNvPr id="338" name="Google Shape;338;p14"/>
          <p:cNvSpPr txBox="1"/>
          <p:nvPr/>
        </p:nvSpPr>
        <p:spPr>
          <a:xfrm>
            <a:off x="4736592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5129784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5266944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DSTK100</a:t>
            </a:r>
            <a:endParaRPr/>
          </a:p>
        </p:txBody>
      </p:sp>
      <p:sp>
        <p:nvSpPr>
          <p:cNvPr id="341" name="Google Shape;341;p14"/>
          <p:cNvSpPr txBox="1"/>
          <p:nvPr/>
        </p:nvSpPr>
        <p:spPr>
          <a:xfrm>
            <a:off x="5266944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ReLU + TopK 100</a:t>
            </a:r>
            <a:endParaRPr/>
          </a:p>
        </p:txBody>
      </p:sp>
      <p:sp>
        <p:nvSpPr>
          <p:cNvPr id="342" name="Google Shape;342;p14"/>
          <p:cNvSpPr txBox="1"/>
          <p:nvPr/>
        </p:nvSpPr>
        <p:spPr>
          <a:xfrm>
            <a:off x="7095744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7488936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 txBox="1"/>
          <p:nvPr/>
        </p:nvSpPr>
        <p:spPr>
          <a:xfrm>
            <a:off x="7626096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6404 active?</a:t>
            </a:r>
            <a:endParaRPr/>
          </a:p>
        </p:txBody>
      </p:sp>
      <p:sp>
        <p:nvSpPr>
          <p:cNvPr id="345" name="Google Shape;345;p14"/>
          <p:cNvSpPr txBox="1"/>
          <p:nvPr/>
        </p:nvSpPr>
        <p:spPr>
          <a:xfrm>
            <a:off x="7626096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gate intervention</a:t>
            </a:r>
            <a:endParaRPr/>
          </a:p>
        </p:txBody>
      </p:sp>
      <p:sp>
        <p:nvSpPr>
          <p:cNvPr id="346" name="Google Shape;346;p14"/>
          <p:cNvSpPr txBox="1"/>
          <p:nvPr/>
        </p:nvSpPr>
        <p:spPr>
          <a:xfrm>
            <a:off x="9454896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9848088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 txBox="1"/>
          <p:nvPr/>
        </p:nvSpPr>
        <p:spPr>
          <a:xfrm>
            <a:off x="9985248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Next token</a:t>
            </a:r>
            <a:endParaRPr/>
          </a:p>
        </p:txBody>
      </p:sp>
      <p:sp>
        <p:nvSpPr>
          <p:cNvPr id="349" name="Google Shape;349;p14"/>
          <p:cNvSpPr txBox="1"/>
          <p:nvPr/>
        </p:nvSpPr>
        <p:spPr>
          <a:xfrm>
            <a:off x="9985248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continue generation</a:t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1280160" y="3886200"/>
            <a:ext cx="9646920" cy="1188720"/>
          </a:xfrm>
          <a:prstGeom prst="roundRect">
            <a:avLst>
              <a:gd fmla="val 16667" name="adj"/>
            </a:avLst>
          </a:prstGeom>
          <a:solidFill>
            <a:srgbClr val="17203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 txBox="1"/>
          <p:nvPr/>
        </p:nvSpPr>
        <p:spPr>
          <a:xfrm>
            <a:off x="1645920" y="4224528"/>
            <a:ext cx="8915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h′ₜ = hₜ + α · z₆₄₀₄,ₜ · RMS(hₜ) · d₆₄₀₄,base</a:t>
            </a:r>
            <a:endParaRPr/>
          </a:p>
        </p:txBody>
      </p:sp>
      <p:sp>
        <p:nvSpPr>
          <p:cNvPr id="352" name="Google Shape;352;p14"/>
          <p:cNvSpPr txBox="1"/>
          <p:nvPr/>
        </p:nvSpPr>
        <p:spPr>
          <a:xfrm>
            <a:off x="1828800" y="5413248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intervention changes the next-token distribution; it does not rewrite earlier tokens.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60" name="Google Shape;360;p15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61" name="Google Shape;361;p15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TOKEN-LEVEL CASE</a:t>
            </a:r>
            <a:endParaRPr/>
          </a:p>
        </p:txBody>
      </p:sp>
      <p:sp>
        <p:nvSpPr>
          <p:cNvPr id="362" name="Google Shape;362;p1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One example: the baseline solved the task, then imported its own test</a:t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548640" y="1325880"/>
            <a:ext cx="5440680" cy="356616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 txBox="1"/>
          <p:nvPr/>
        </p:nvSpPr>
        <p:spPr>
          <a:xfrm>
            <a:off x="868680" y="162763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BASELINE · FAIL</a:t>
            </a:r>
            <a:endParaRPr/>
          </a:p>
        </p:txBody>
      </p:sp>
      <p:sp>
        <p:nvSpPr>
          <p:cNvPr id="365" name="Google Shape;365;p15"/>
          <p:cNvSpPr txBox="1"/>
          <p:nvPr/>
        </p:nvSpPr>
        <p:spPr>
          <a:xfrm>
            <a:off x="868680" y="2148840"/>
            <a:ext cx="46634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return []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# tests/test_task_func.py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import unittest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from task_func import task_func</a:t>
            </a:r>
            <a:endParaRPr/>
          </a:p>
        </p:txBody>
      </p:sp>
      <p:sp>
        <p:nvSpPr>
          <p:cNvPr id="366" name="Google Shape;366;p15"/>
          <p:cNvSpPr txBox="1"/>
          <p:nvPr/>
        </p:nvSpPr>
        <p:spPr>
          <a:xfrm>
            <a:off x="868680" y="425196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plausible function body is followed by test/import contamination.</a:t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6217920" y="1325880"/>
            <a:ext cx="5440680" cy="35661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6537960" y="16276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6404 SUPPRESSION · PASS</a:t>
            </a:r>
            <a:endParaRPr/>
          </a:p>
        </p:txBody>
      </p:sp>
      <p:sp>
        <p:nvSpPr>
          <p:cNvPr id="369" name="Google Shape;369;p15"/>
          <p:cNvSpPr txBox="1"/>
          <p:nvPr/>
        </p:nvSpPr>
        <p:spPr>
          <a:xfrm>
            <a:off x="6537960" y="2148840"/>
            <a:ext cx="46634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return min_subsequence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# task_func({...})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# task_func({...})</a:t>
            </a:r>
            <a:endParaRPr/>
          </a:p>
        </p:txBody>
      </p:sp>
      <p:sp>
        <p:nvSpPr>
          <p:cNvPr id="370" name="Google Shape;370;p15"/>
          <p:cNvSpPr txBox="1"/>
          <p:nvPr/>
        </p:nvSpPr>
        <p:spPr>
          <a:xfrm>
            <a:off x="6537960" y="425196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Official pass; no generated test module import.</a:t>
            </a:r>
            <a:endParaRPr/>
          </a:p>
        </p:txBody>
      </p:sp>
      <p:pic>
        <p:nvPicPr>
          <p:cNvPr descr="f6404_task668_trace.png" id="371" name="Google Shape;3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5074920"/>
            <a:ext cx="10058400" cy="117043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5"/>
          <p:cNvSpPr txBox="1"/>
          <p:nvPr/>
        </p:nvSpPr>
        <p:spPr>
          <a:xfrm>
            <a:off x="1828800" y="6336792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Red marks: online steps where feature 6404 entered the active TopK in the steered trajectory.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79" name="Google Shape;379;p16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380" name="Google Shape;380;p16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MAIN CAUSAL RESULT</a:t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intervention recovered official passes—not just prettier text</a:t>
            </a:r>
            <a:endParaRPr/>
          </a:p>
        </p:txBody>
      </p:sp>
      <p:sp>
        <p:nvSpPr>
          <p:cNvPr id="382" name="Google Shape;382;p16"/>
          <p:cNvSpPr txBox="1"/>
          <p:nvPr/>
        </p:nvSpPr>
        <p:spPr>
          <a:xfrm>
            <a:off x="822960" y="160020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19 / 80</a:t>
            </a: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822960" y="2606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fail → official pass</a:t>
            </a:r>
            <a:endParaRPr/>
          </a:p>
        </p:txBody>
      </p:sp>
      <p:sp>
        <p:nvSpPr>
          <p:cNvPr id="384" name="Google Shape;384;p16"/>
          <p:cNvSpPr txBox="1"/>
          <p:nvPr/>
        </p:nvSpPr>
        <p:spPr>
          <a:xfrm>
            <a:off x="6400800" y="160020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41 / 80</a:t>
            </a: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6400800" y="2606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test/import contamination removed</a:t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1234440" y="3794760"/>
            <a:ext cx="9738360" cy="11887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1600200" y="4187952"/>
            <a:ext cx="9006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α = −2   ·   TopK-gated   ·   exact code evaluated with extraction v4</a:t>
            </a:r>
            <a:endParaRPr/>
          </a:p>
        </p:txBody>
      </p:sp>
      <p:sp>
        <p:nvSpPr>
          <p:cNvPr id="388" name="Google Shape;388;p16"/>
          <p:cNvSpPr txBox="1"/>
          <p:nvPr/>
        </p:nvSpPr>
        <p:spPr>
          <a:xfrm>
            <a:off x="1828800" y="539496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Cohort selected for this mechanism; do not read 23.75% as general benchmark gain.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95" name="Google Shape;395;p17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396" name="Google Shape;396;p17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SPECIFICITY</a:t>
            </a:r>
            <a:endParaRPr/>
          </a:p>
        </p:txBody>
      </p:sp>
      <p:sp>
        <p:nvSpPr>
          <p:cNvPr id="397" name="Google Shape;397;p17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Matched controls isolate the 6404 direction</a:t>
            </a:r>
            <a:endParaRPr/>
          </a:p>
        </p:txBody>
      </p:sp>
      <p:pic>
        <p:nvPicPr>
          <p:cNvPr descr="matched_controls.png" id="398" name="Google Shape;3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325880"/>
            <a:ext cx="7909560" cy="4384236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7"/>
          <p:cNvSpPr/>
          <p:nvPr/>
        </p:nvSpPr>
        <p:spPr>
          <a:xfrm>
            <a:off x="8732520" y="1600200"/>
            <a:ext cx="2514600" cy="3977639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9052560" y="1874519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Controls matched</a:t>
            </a:r>
            <a:endParaRPr/>
          </a:p>
        </p:txBody>
      </p:sp>
      <p:sp>
        <p:nvSpPr>
          <p:cNvPr id="401" name="Google Shape;401;p17"/>
          <p:cNvSpPr txBox="1"/>
          <p:nvPr/>
        </p:nvSpPr>
        <p:spPr>
          <a:xfrm>
            <a:off x="9052560" y="239572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02" name="Google Shape;402;p17"/>
          <p:cNvSpPr txBox="1"/>
          <p:nvPr/>
        </p:nvSpPr>
        <p:spPr>
          <a:xfrm>
            <a:off x="9326880" y="239572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decoder norm</a:t>
            </a:r>
            <a:endParaRPr/>
          </a:p>
        </p:txBody>
      </p:sp>
      <p:sp>
        <p:nvSpPr>
          <p:cNvPr id="403" name="Google Shape;403;p17"/>
          <p:cNvSpPr txBox="1"/>
          <p:nvPr/>
        </p:nvSpPr>
        <p:spPr>
          <a:xfrm>
            <a:off x="9052560" y="289864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04" name="Google Shape;404;p17"/>
          <p:cNvSpPr txBox="1"/>
          <p:nvPr/>
        </p:nvSpPr>
        <p:spPr>
          <a:xfrm>
            <a:off x="9326880" y="289864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activation support</a:t>
            </a:r>
            <a:endParaRPr/>
          </a:p>
        </p:txBody>
      </p:sp>
      <p:sp>
        <p:nvSpPr>
          <p:cNvPr id="405" name="Google Shape;405;p17"/>
          <p:cNvSpPr txBox="1"/>
          <p:nvPr/>
        </p:nvSpPr>
        <p:spPr>
          <a:xfrm>
            <a:off x="9052560" y="34015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06" name="Google Shape;406;p17"/>
          <p:cNvSpPr txBox="1"/>
          <p:nvPr/>
        </p:nvSpPr>
        <p:spPr>
          <a:xfrm>
            <a:off x="9326880" y="34015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temporal profile</a:t>
            </a:r>
            <a:endParaRPr/>
          </a:p>
        </p:txBody>
      </p:sp>
      <p:sp>
        <p:nvSpPr>
          <p:cNvPr id="407" name="Google Shape;407;p17"/>
          <p:cNvSpPr txBox="1"/>
          <p:nvPr/>
        </p:nvSpPr>
        <p:spPr>
          <a:xfrm>
            <a:off x="9052560" y="390448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08" name="Google Shape;408;p17"/>
          <p:cNvSpPr txBox="1"/>
          <p:nvPr/>
        </p:nvSpPr>
        <p:spPr>
          <a:xfrm>
            <a:off x="9326880" y="390448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online gate activity</a:t>
            </a:r>
            <a:endParaRPr/>
          </a:p>
        </p:txBody>
      </p:sp>
      <p:sp>
        <p:nvSpPr>
          <p:cNvPr id="409" name="Google Shape;409;p17"/>
          <p:cNvSpPr txBox="1"/>
          <p:nvPr/>
        </p:nvSpPr>
        <p:spPr>
          <a:xfrm>
            <a:off x="9052560" y="45262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vs sham</a:t>
            </a:r>
            <a:endParaRPr/>
          </a:p>
        </p:txBody>
      </p:sp>
      <p:sp>
        <p:nvSpPr>
          <p:cNvPr id="410" name="Google Shape;410;p17"/>
          <p:cNvSpPr txBox="1"/>
          <p:nvPr/>
        </p:nvSpPr>
        <p:spPr>
          <a:xfrm>
            <a:off x="9052560" y="4828032"/>
            <a:ext cx="18745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pass p ≈ 3.8×10⁻⁶</a:t>
            </a:r>
            <a:b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cleanup p ≈ 9.1×10⁻¹³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417" name="Google Shape;417;p18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418" name="Google Shape;418;p18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NON-MONOTONICITY</a:t>
            </a:r>
            <a:endParaRPr/>
          </a:p>
        </p:txBody>
      </p:sp>
      <p:sp>
        <p:nvSpPr>
          <p:cNvPr id="419" name="Google Shape;419;p18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Steering is not a volume knob</a:t>
            </a:r>
            <a:endParaRPr/>
          </a:p>
        </p:txBody>
      </p:sp>
      <p:pic>
        <p:nvPicPr>
          <p:cNvPr descr="dense_curve_redrawn.png" id="420" name="Google Shape;4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34440"/>
            <a:ext cx="8046720" cy="446506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8"/>
          <p:cNvSpPr/>
          <p:nvPr/>
        </p:nvSpPr>
        <p:spPr>
          <a:xfrm>
            <a:off x="8915400" y="1554480"/>
            <a:ext cx="2377440" cy="416052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 txBox="1"/>
          <p:nvPr/>
        </p:nvSpPr>
        <p:spPr>
          <a:xfrm>
            <a:off x="9217152" y="184708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Why jagged?</a:t>
            </a:r>
            <a:endParaRPr/>
          </a:p>
        </p:txBody>
      </p:sp>
      <p:sp>
        <p:nvSpPr>
          <p:cNvPr id="423" name="Google Shape;423;p18"/>
          <p:cNvSpPr txBox="1"/>
          <p:nvPr/>
        </p:nvSpPr>
        <p:spPr>
          <a:xfrm>
            <a:off x="9217152" y="237744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24" name="Google Shape;424;p18"/>
          <p:cNvSpPr txBox="1"/>
          <p:nvPr/>
        </p:nvSpPr>
        <p:spPr>
          <a:xfrm>
            <a:off x="9491472" y="2377440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Token choice is discrete.</a:t>
            </a:r>
            <a:endParaRPr/>
          </a:p>
        </p:txBody>
      </p:sp>
      <p:sp>
        <p:nvSpPr>
          <p:cNvPr id="425" name="Google Shape;425;p18"/>
          <p:cNvSpPr txBox="1"/>
          <p:nvPr/>
        </p:nvSpPr>
        <p:spPr>
          <a:xfrm>
            <a:off x="9217152" y="290779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26" name="Google Shape;426;p18"/>
          <p:cNvSpPr txBox="1"/>
          <p:nvPr/>
        </p:nvSpPr>
        <p:spPr>
          <a:xfrm>
            <a:off x="9491472" y="2907792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One token changes the future context.</a:t>
            </a:r>
            <a:endParaRPr/>
          </a:p>
        </p:txBody>
      </p:sp>
      <p:sp>
        <p:nvSpPr>
          <p:cNvPr id="427" name="Google Shape;427;p18"/>
          <p:cNvSpPr txBox="1"/>
          <p:nvPr/>
        </p:nvSpPr>
        <p:spPr>
          <a:xfrm>
            <a:off x="9217152" y="3438144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28" name="Google Shape;428;p18"/>
          <p:cNvSpPr txBox="1"/>
          <p:nvPr/>
        </p:nvSpPr>
        <p:spPr>
          <a:xfrm>
            <a:off x="9491472" y="3438144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Future gates then change.</a:t>
            </a:r>
            <a:endParaRPr/>
          </a:p>
        </p:txBody>
      </p:sp>
      <p:sp>
        <p:nvSpPr>
          <p:cNvPr id="429" name="Google Shape;429;p18"/>
          <p:cNvSpPr txBox="1"/>
          <p:nvPr/>
        </p:nvSpPr>
        <p:spPr>
          <a:xfrm>
            <a:off x="9217152" y="3968496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9491472" y="3968496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Pass/fail is discontinuous.</a:t>
            </a:r>
            <a:endParaRPr/>
          </a:p>
        </p:txBody>
      </p:sp>
      <p:sp>
        <p:nvSpPr>
          <p:cNvPr id="431" name="Google Shape;431;p18"/>
          <p:cNvSpPr txBox="1"/>
          <p:nvPr/>
        </p:nvSpPr>
        <p:spPr>
          <a:xfrm>
            <a:off x="9217152" y="449884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9491472" y="4498848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One seed per task adds noise.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DIRECTIONAL IMPROVEMENT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Base-enriched features reveal a test-generation 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9537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0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99032"/>
            <a:ext cx="4839919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371600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140/215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01368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12883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01368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early max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828800"/>
            <a:ext cx="4692883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801368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01368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139/215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3602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231136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258568"/>
            <a:ext cx="4558101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231136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31136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164/215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660904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  <a:latin typeface="Aptos"/>
              </a:rPr>
              <a:t>5422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660904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2688336"/>
            <a:ext cx="4441698" cy="2011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660904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660904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135/215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090672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14295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090672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118103"/>
            <a:ext cx="4331421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3090672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090672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156/215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520439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13397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520439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547871"/>
            <a:ext cx="4313041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3520439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520439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178/215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950208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15916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3950208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977640"/>
            <a:ext cx="4313041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3950208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950208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136/215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379976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10168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4379976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4407408"/>
            <a:ext cx="4276283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4379976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6.98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379976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156/215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4809744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13801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4809744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837176"/>
            <a:ext cx="4251777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4809744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6.94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809744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164/215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239512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12308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5239512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34640" y="5266944"/>
            <a:ext cx="4215018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0" y="5239512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6.88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239512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145/215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1371600"/>
            <a:ext cx="2514600" cy="4480560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1737360"/>
            <a:ext cx="196596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Aptos"/>
              </a:rPr>
              <a:t>FEATURE 5422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2194560"/>
            <a:ext cx="1965960" cy="30175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ptos"/>
              </a:rPr>
              <a:t>#4
E/V = -7.25
135/215 base support
reverse ROC 0.644
6404: rank #989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ACTIVATION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5422 appears around the transition into generated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33772"/>
            <a:ext cx="914400" cy="178308"/>
          </a:xfrm>
          <a:prstGeom prst="rect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59452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0-10%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3726180"/>
            <a:ext cx="914400" cy="1485900"/>
          </a:xfrm>
          <a:prstGeom prst="rect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3451860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10-25%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883664"/>
            <a:ext cx="914400" cy="332841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09344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25-50%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4261104"/>
            <a:ext cx="914400" cy="950976"/>
          </a:xfrm>
          <a:prstGeom prst="rect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986784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50-75%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82796"/>
            <a:ext cx="914400" cy="1129284"/>
          </a:xfrm>
          <a:prstGeom prst="rect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808476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75-100%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69494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tos"/>
              </a:rPr>
              <a:t>First activation among 119 contamination improvements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200400" cy="452628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783080"/>
            <a:ext cx="2468880" cy="329184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ptos"/>
              </a:rPr>
              <a:t>39.2%
median first activation
119/119 active
3 in first 10%
28 by first 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5074920"/>
            <a:ext cx="2560320" cy="54864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Aptos"/>
              </a:rPr>
              <a:t>Timing does not prove precedence to the first test marker.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FEATURE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5422 is a literal test-module feature - not a correctness direction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5760720" cy="448056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02920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HIGH-ACTIVATION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5074920" cy="21031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# tests/test_task_func.py
import unittest
from task_func import task_func
class TestTaskFunc(unittest.TestCase):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5029200" cy="32004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400" b="1">
                <a:solidFill>
                  <a:srgbClr val="CBD5E1"/>
                </a:solidFill>
                <a:latin typeface="Aptos"/>
              </a:rPr>
              <a:t>Dominant tokens: test - tests - / - 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371600"/>
            <a:ext cx="4846320" cy="4480560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737360"/>
            <a:ext cx="3840480" cy="35661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ptos"/>
              </a:rPr>
              <a:t>119/119 contaminations
vs
16/96 other improvements
Exploratory OR ~ 1,166
Strong detector; causal usefulness untested.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IMPROVEMENT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BigCodeBench improvements contain distinct error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Test/import contamination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453896"/>
            <a:ext cx="5984748" cy="21945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417320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119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9384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Wrong output /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965960"/>
            <a:ext cx="2414016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929384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41448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Missing name / import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478024"/>
            <a:ext cx="804672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441448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53512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Unexpected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990088"/>
            <a:ext cx="452628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953512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65576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Wrong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502152"/>
            <a:ext cx="352044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465576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77640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Other runtime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4014216"/>
            <a:ext cx="301752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977640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89704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Wrong API / attribute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4526280"/>
            <a:ext cx="251460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4489704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01768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Truncation / extraction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5038344"/>
            <a:ext cx="251460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5001768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1828800"/>
            <a:ext cx="1371600" cy="21031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700" b="1">
                <a:solidFill>
                  <a:srgbClr val="F59E0B"/>
                </a:solidFill>
                <a:latin typeface="Aptos"/>
              </a:rPr>
              <a:t>119/215 = 55.3%
Rule-based taxonomy;
manual validation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TOP-10 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The negative screen decomposes generated tests into sparse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53312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353312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SEMANTICS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53312"/>
            <a:ext cx="128016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353312"/>
            <a:ext cx="128016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MEDIAN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5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19072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9537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719072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_, Test, import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719072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 class/function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719072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719072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148839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12883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48839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#, test, 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148839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test-block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148839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148839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14.2%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42032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578608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3602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578608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task_func, import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2578608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use inside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578608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578608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36.9%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008376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5422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008376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test, tests, /, 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008376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test-module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008376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119/119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008376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39.2%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401568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38144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14295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438144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unittest, assert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438144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unit-test scaffold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438144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118/119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3438144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31.6%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867911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13397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3867911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task, expected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3867911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 expectations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867911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867911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32.0%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261103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4297679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15916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4297679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/tests, from, src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6200" y="4297679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 paths/imports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4297679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114/119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297679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39.9%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4727448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10168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4727448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import, class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86200" y="4727448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test-class creation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727448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4727448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38.6%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120640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5157216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13801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157216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test, assert, invalid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86200" y="5157216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cases/assertions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5157216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5157216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39.2%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5586983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12308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5586983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import, test, class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86200" y="5586983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 scaffold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5586983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5586983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39.9%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6172200"/>
            <a:ext cx="10241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Aptos"/>
              </a:rPr>
              <a:t>Associative features, not yet causally validated directions.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TIMING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Boxplots preserve task-level dispersion across the Top 10</a:t>
            </a:r>
          </a:p>
        </p:txBody>
      </p:sp>
      <p:pic>
        <p:nvPicPr>
          <p:cNvPr id="6" name="Picture 5" descr="top10_first_activation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7955279" cy="44195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417320"/>
            <a:ext cx="2560320" cy="443484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4272" y="1737360"/>
            <a:ext cx="196596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HOW TO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4272" y="2240280"/>
            <a:ext cx="1965960" cy="2468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Box: middle 50% of tasks
Red line: median
Whiskers: values within 1.5x IQR
Outliers hidden for readability
Only active contamination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4272" y="4983480"/>
            <a:ext cx="1965960" cy="54864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5422 median: 39.2%
n = 119/119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44768"/>
            <a:ext cx="10241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  <a:latin typeface="Aptos"/>
              </a:rPr>
              <a:t>Position is measured over extraction-v4 evaluated-code tokens; it does not establish precedence to the first test marker.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