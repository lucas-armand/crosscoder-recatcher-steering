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3"/>
    <p:sldId id="273" r:id="rId24"/>
    <p:sldId id="274" r:id="rId25"/>
    <p:sldId id="275" r:id="rId26"/>
    <p:sldId id="276" r:id="rId27"/>
    <p:sldId id="277" r:id="rId28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80" r:id="rId31"/>
    <p:sldId id="281" r:id="rId32"/>
    <p:sldId id="282" r:id="rId33"/>
    <p:sldId id="283" r:id="rId34"/>
    <p:sldId id="284" r:id="rId35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gEwpJ7hL5b486aSj4LGLozX+kM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customschemas.google.com/relationships/presentationmetadata" Target="metadata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 with the behavioral paradox, not the architecture. The scientific question is whether a shared sparse representation can explain why the models diverge.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5" name="Google Shape;355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Representative task: BigCodeBench/668. Show the exact full outputs in the appendix/source data if challenged; the slide uses a compact excerpt. Active gate steps were 8, 113, and 152 of 251 generated-token steps.</a:t>
            </a:r>
            <a:endParaRPr/>
          </a:p>
        </p:txBody>
      </p:sp>
      <p:sp>
        <p:nvSpPr>
          <p:cNvPr id="356" name="Google Shape;356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DSTK100 · preliminary causal model diffing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640080" y="960120"/>
            <a:ext cx="758952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FROM MODEL DIFFS</a:t>
            </a:r>
            <a:br>
              <a:rPr b="1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 CAUSAL MECHANISMS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685800" y="2788920"/>
            <a:ext cx="6583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Using a CrossCoder to explain behavioral differences</a:t>
            </a:r>
            <a:br>
              <a:rPr b="0" i="0" lang="en-US" sz="20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between base and fine-tuned code models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8458200" y="731520"/>
            <a:ext cx="2926080" cy="4983480"/>
          </a:xfrm>
          <a:prstGeom prst="roundRect">
            <a:avLst>
              <a:gd fmla="val 16667" name="adj"/>
            </a:avLst>
          </a:prstGeom>
          <a:solidFill>
            <a:srgbClr val="172033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8823960" y="109728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The case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8823960" y="1554480"/>
            <a:ext cx="205740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model solved</a:t>
            </a:r>
            <a:br>
              <a:rPr b="1" i="0" lang="en-US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task—then</a:t>
            </a:r>
            <a:br>
              <a:rPr b="1" i="0" lang="en-US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kept writing.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8823960" y="3794760"/>
            <a:ext cx="2057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A single latent feature helped control that continuation.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DSTK100 · preliminary causal model diffing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RESEARCH QUESTION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evaluation tells us what changed. The CrossCoder asks why.</a:t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685800" y="1828800"/>
            <a:ext cx="5166360" cy="3474720"/>
          </a:xfrm>
          <a:prstGeom prst="roundRect">
            <a:avLst>
              <a:gd fmla="val 16667" name="adj"/>
            </a:avLst>
          </a:prstGeom>
          <a:solidFill>
            <a:srgbClr val="FFF7ED"/>
          </a:solidFill>
          <a:ln cap="flat" cmpd="sng" w="9525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6327648" y="1828800"/>
            <a:ext cx="5166360" cy="347472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1051560" y="221284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BEHAVIOR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6693408" y="221284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REPRESENTATION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1051560" y="2788920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1325880" y="278892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Base passes / fine-tuned fails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1051560" y="3401568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1325880" y="3401568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Base fails / fine-tuned passes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1051560" y="4014215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1325880" y="4014215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What kind of error occurred?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6693408" y="2788920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6967728" y="278892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Paired layer-16 residuals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6693408" y="3401568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6967728" y="3401568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Shared sparse features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6693408" y="4014215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6967728" y="4014215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Decoder directions for intervention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914400" y="571500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Behavior localizes the difference. Features turn it into a testable hypothesis.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/>
          <p:nvPr/>
        </p:nvSpPr>
        <p:spPr>
          <a:xfrm>
            <a:off x="-66300" y="-742100"/>
            <a:ext cx="121917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11150200" y="6416703"/>
            <a:ext cx="3201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26" name="Google Shape;126;p3"/>
          <p:cNvSpPr txBox="1"/>
          <p:nvPr/>
        </p:nvSpPr>
        <p:spPr>
          <a:xfrm>
            <a:off x="543160" y="198783"/>
            <a:ext cx="109728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543160" y="564543"/>
            <a:ext cx="10972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111827"/>
                </a:solidFill>
              </a:rPr>
              <a:t>First case study: DeepSeek base ↔ fine-tuned model diffing (</a:t>
            </a:r>
            <a:r>
              <a:rPr b="1" lang="en-US" sz="2500">
                <a:solidFill>
                  <a:srgbClr val="111827"/>
                </a:solidFill>
              </a:rPr>
              <a:t>DSTK100)</a:t>
            </a:r>
            <a:endParaRPr b="1" sz="2500">
              <a:solidFill>
                <a:srgbClr val="111827"/>
              </a:solidFill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703170" y="2062144"/>
            <a:ext cx="2057400" cy="960000"/>
          </a:xfrm>
          <a:prstGeom prst="roundRect">
            <a:avLst>
              <a:gd fmla="val 16667" name="adj"/>
            </a:avLst>
          </a:prstGeom>
          <a:solidFill>
            <a:srgbClr val="8B5CF6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931770" y="2245025"/>
            <a:ext cx="155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BASE</a:t>
            </a:r>
            <a:endParaRPr>
              <a:solidFill>
                <a:srgbClr val="CBD5E1"/>
              </a:solidFill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931770" y="2546777"/>
            <a:ext cx="15546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layer 16</a:t>
            </a:r>
            <a:endParaRPr>
              <a:solidFill>
                <a:srgbClr val="93C5FD"/>
              </a:solidFill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703170" y="3433745"/>
            <a:ext cx="2057400" cy="960000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 cap="flat" cmpd="sng" w="9525">
            <a:solidFill>
              <a:srgbClr val="6EE7B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931770" y="3616625"/>
            <a:ext cx="155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FINE-TUNED</a:t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931770" y="3918377"/>
            <a:ext cx="15546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layer 16</a:t>
            </a:r>
            <a:endParaRPr/>
          </a:p>
        </p:txBody>
      </p:sp>
      <p:sp>
        <p:nvSpPr>
          <p:cNvPr id="134" name="Google Shape;134;p3"/>
          <p:cNvSpPr txBox="1"/>
          <p:nvPr/>
        </p:nvSpPr>
        <p:spPr>
          <a:xfrm>
            <a:off x="3034890" y="2930825"/>
            <a:ext cx="1188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same tokens</a:t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4269330" y="2427905"/>
            <a:ext cx="2834700" cy="19659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4589370" y="2793665"/>
            <a:ext cx="21945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CROSSCODER</a:t>
            </a:r>
            <a:endParaRPr/>
          </a:p>
        </p:txBody>
      </p:sp>
      <p:sp>
        <p:nvSpPr>
          <p:cNvPr id="137" name="Google Shape;137;p3"/>
          <p:cNvSpPr txBox="1"/>
          <p:nvPr/>
        </p:nvSpPr>
        <p:spPr>
          <a:xfrm>
            <a:off x="4589370" y="3250865"/>
            <a:ext cx="21945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16,384 latents</a:t>
            </a:r>
            <a:br>
              <a:rPr b="0" i="0" lang="en-US" sz="14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ReLU + TopK 100</a:t>
            </a:r>
            <a:endParaRPr/>
          </a:p>
        </p:txBody>
      </p:sp>
      <p:sp>
        <p:nvSpPr>
          <p:cNvPr id="138" name="Google Shape;138;p3"/>
          <p:cNvSpPr txBox="1"/>
          <p:nvPr/>
        </p:nvSpPr>
        <p:spPr>
          <a:xfrm>
            <a:off x="3446370" y="3049697"/>
            <a:ext cx="5028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7332570" y="3049697"/>
            <a:ext cx="5028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40" name="Google Shape;140;p3"/>
          <p:cNvSpPr/>
          <p:nvPr/>
        </p:nvSpPr>
        <p:spPr>
          <a:xfrm>
            <a:off x="7918400" y="2084900"/>
            <a:ext cx="3429000" cy="243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8329885" y="2587820"/>
            <a:ext cx="210300" cy="210300"/>
          </a:xfrm>
          <a:prstGeom prst="rect">
            <a:avLst/>
          </a:prstGeom>
          <a:solidFill>
            <a:srgbClr val="E2E8F0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8686501" y="2587820"/>
            <a:ext cx="210300" cy="2103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9043117" y="2587820"/>
            <a:ext cx="210300" cy="210300"/>
          </a:xfrm>
          <a:prstGeom prst="rect">
            <a:avLst/>
          </a:prstGeom>
          <a:solidFill>
            <a:srgbClr val="E2E8F0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9399733" y="2587820"/>
            <a:ext cx="210300" cy="210300"/>
          </a:xfrm>
          <a:prstGeom prst="rect">
            <a:avLst/>
          </a:prstGeom>
          <a:solidFill>
            <a:srgbClr val="E2E8F0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9756349" y="2587820"/>
            <a:ext cx="210300" cy="2103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10112965" y="2587820"/>
            <a:ext cx="210300" cy="210300"/>
          </a:xfrm>
          <a:prstGeom prst="rect">
            <a:avLst/>
          </a:prstGeom>
          <a:solidFill>
            <a:srgbClr val="E2E8F0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10469581" y="2587820"/>
            <a:ext cx="210300" cy="210300"/>
          </a:xfrm>
          <a:prstGeom prst="rect">
            <a:avLst/>
          </a:prstGeom>
          <a:solidFill>
            <a:srgbClr val="E2E8F0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 txBox="1"/>
          <p:nvPr/>
        </p:nvSpPr>
        <p:spPr>
          <a:xfrm>
            <a:off x="8238445" y="3090740"/>
            <a:ext cx="27432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100 active features</a:t>
            </a:r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8238445" y="3502220"/>
            <a:ext cx="27432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per evaluated token</a:t>
            </a:r>
            <a:endParaRPr/>
          </a:p>
        </p:txBody>
      </p:sp>
      <p:sp>
        <p:nvSpPr>
          <p:cNvPr id="150" name="Google Shape;150;p3"/>
          <p:cNvSpPr txBox="1"/>
          <p:nvPr/>
        </p:nvSpPr>
        <p:spPr>
          <a:xfrm>
            <a:off x="863250" y="4868683"/>
            <a:ext cx="103326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2,608 code texts   ·   617,959 evaluated tokens   ·   same-text alignment</a:t>
            </a:r>
            <a:endParaRPr/>
          </a:p>
        </p:txBody>
      </p:sp>
      <p:grpSp>
        <p:nvGrpSpPr>
          <p:cNvPr id="151" name="Google Shape;151;p3"/>
          <p:cNvGrpSpPr/>
          <p:nvPr/>
        </p:nvGrpSpPr>
        <p:grpSpPr>
          <a:xfrm>
            <a:off x="466938" y="5323160"/>
            <a:ext cx="11049000" cy="1428900"/>
            <a:chOff x="0" y="0"/>
            <a:chExt cx="11049000" cy="1428900"/>
          </a:xfrm>
        </p:grpSpPr>
        <p:sp>
          <p:nvSpPr>
            <p:cNvPr id="152" name="Google Shape;152;p3"/>
            <p:cNvSpPr txBox="1"/>
            <p:nvPr/>
          </p:nvSpPr>
          <p:spPr>
            <a:xfrm>
              <a:off x="0" y="0"/>
              <a:ext cx="5334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Method Lineage</a:t>
              </a:r>
              <a:endParaRPr b="1" sz="9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Based on </a:t>
              </a:r>
              <a:r>
                <a:rPr i="1" lang="en-US" sz="9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Sparse Crosscoders for Cross-Layer Features and Model Diffing</a:t>
              </a:r>
              <a:r>
                <a:rPr lang="en-US" sz="9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(Lindsey et al., 2024). TopK sparsity follows the sparse-autoencoder design studied by Gao et al. (2024). </a:t>
              </a:r>
              <a:r>
                <a:rPr b="1" lang="en-US" sz="9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DSTK100</a:t>
              </a:r>
              <a:r>
                <a:rPr lang="en-US" sz="9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is our same-text, layer-16, TopK-100 implementation.</a:t>
              </a:r>
              <a:endParaRPr sz="9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3"/>
            <p:cNvSpPr txBox="1"/>
            <p:nvPr/>
          </p:nvSpPr>
          <p:spPr>
            <a:xfrm>
              <a:off x="5715000" y="0"/>
              <a:ext cx="5334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References</a:t>
              </a:r>
              <a:endParaRPr b="1" sz="8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• Lindsey, J. et al. "Sparse Crosscoders for Cross-Layer Features and Model Diffing." </a:t>
              </a:r>
              <a:r>
                <a:rPr i="1" lang="en-US" sz="8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Transformer Circuits</a:t>
              </a:r>
              <a:r>
                <a:rPr lang="en-US" sz="8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, 2024.</a:t>
              </a:r>
              <a:endParaRPr sz="8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• Gao, L. et al. "Scaling and Evaluating Sparse Autoencoders." 2024.</a:t>
              </a:r>
              <a:endParaRPr sz="8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594360" y="6547104"/>
            <a:ext cx="64008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DSTK100 · preliminary causal model diffing</a:t>
            </a:r>
            <a:endParaRPr/>
          </a:p>
        </p:txBody>
      </p:sp>
      <p:sp>
        <p:nvSpPr>
          <p:cNvPr id="160" name="Google Shape;160;p4"/>
          <p:cNvSpPr txBox="1"/>
          <p:nvPr/>
        </p:nvSpPr>
        <p:spPr>
          <a:xfrm>
            <a:off x="594360" y="292608"/>
            <a:ext cx="109728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BEHAVIORAL MAP</a:t>
            </a:r>
            <a:endParaRPr/>
          </a:p>
        </p:txBody>
      </p:sp>
      <p:sp>
        <p:nvSpPr>
          <p:cNvPr id="161" name="Google Shape;161;p4"/>
          <p:cNvSpPr txBox="1"/>
          <p:nvPr/>
        </p:nvSpPr>
        <p:spPr>
          <a:xfrm>
            <a:off x="594360" y="658368"/>
            <a:ext cx="10972800" cy="45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Ours Results to </a:t>
            </a:r>
            <a:r>
              <a:rPr b="1" lang="en-US" sz="2500">
                <a:solidFill>
                  <a:srgbClr val="111827"/>
                </a:solidFill>
              </a:rPr>
              <a:t>DSTK100</a:t>
            </a:r>
            <a:r>
              <a:rPr b="1" lang="en-US" sz="2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agrees with ReCatcher</a:t>
            </a:r>
            <a:endParaRPr b="1" sz="2400">
              <a:solidFill>
                <a:srgbClr val="11182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ransition_balance.png" id="162" name="Google Shape;16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428750"/>
            <a:ext cx="6286500" cy="2327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3" name="Google Shape;163;p4"/>
          <p:cNvGrpSpPr/>
          <p:nvPr/>
        </p:nvGrpSpPr>
        <p:grpSpPr>
          <a:xfrm>
            <a:off x="594360" y="3952875"/>
            <a:ext cx="1809600" cy="1428900"/>
            <a:chOff x="0" y="0"/>
            <a:chExt cx="1809600" cy="1428900"/>
          </a:xfrm>
        </p:grpSpPr>
        <p:sp>
          <p:nvSpPr>
            <p:cNvPr id="164" name="Google Shape;164;p4"/>
            <p:cNvSpPr/>
            <p:nvPr/>
          </p:nvSpPr>
          <p:spPr>
            <a:xfrm>
              <a:off x="0" y="0"/>
              <a:ext cx="18096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4"/>
            <p:cNvSpPr txBox="1"/>
            <p:nvPr/>
          </p:nvSpPr>
          <p:spPr>
            <a:xfrm>
              <a:off x="0" y="0"/>
              <a:ext cx="18096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4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343</a:t>
              </a:r>
              <a:endParaRPr b="1" sz="3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One-Sided Transitions</a:t>
              </a:r>
              <a:endParaRPr b="1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Total instances where models diverged</a:t>
              </a:r>
              <a:endParaRPr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6" name="Google Shape;166;p4"/>
          <p:cNvGrpSpPr/>
          <p:nvPr/>
        </p:nvGrpSpPr>
        <p:grpSpPr>
          <a:xfrm>
            <a:off x="2667000" y="3952875"/>
            <a:ext cx="2095500" cy="1428900"/>
            <a:chOff x="0" y="0"/>
            <a:chExt cx="2095500" cy="1428900"/>
          </a:xfrm>
        </p:grpSpPr>
        <p:sp>
          <p:nvSpPr>
            <p:cNvPr id="167" name="Google Shape;167;p4"/>
            <p:cNvSpPr/>
            <p:nvPr/>
          </p:nvSpPr>
          <p:spPr>
            <a:xfrm>
              <a:off x="0" y="0"/>
              <a:ext cx="20955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4"/>
            <p:cNvSpPr txBox="1"/>
            <p:nvPr/>
          </p:nvSpPr>
          <p:spPr>
            <a:xfrm>
              <a:off x="0" y="0"/>
              <a:ext cx="2095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4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257</a:t>
              </a:r>
              <a:endParaRPr b="1" sz="340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47857"/>
                  </a:solidFill>
                  <a:latin typeface="Arial"/>
                  <a:ea typeface="Arial"/>
                  <a:cs typeface="Arial"/>
                  <a:sym typeface="Arial"/>
                </a:rPr>
                <a:t>Improvements</a:t>
              </a:r>
              <a:endParaRPr b="1" sz="1100">
                <a:solidFill>
                  <a:srgbClr val="04785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i="1" lang="en-US" sz="9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base fail → FT pass</a:t>
              </a:r>
              <a:endParaRPr i="1" sz="9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HumanEval+: 42</a:t>
              </a:r>
              <a:br>
                <a:rPr b="1" lang="en-US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lang="en-US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BigCodeBench: 215</a:t>
              </a:r>
              <a:endParaRPr b="1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9" name="Google Shape;169;p4"/>
          <p:cNvGrpSpPr/>
          <p:nvPr/>
        </p:nvGrpSpPr>
        <p:grpSpPr>
          <a:xfrm>
            <a:off x="4953000" y="3952875"/>
            <a:ext cx="2095500" cy="1428900"/>
            <a:chOff x="0" y="0"/>
            <a:chExt cx="2095500" cy="1428900"/>
          </a:xfrm>
        </p:grpSpPr>
        <p:sp>
          <p:nvSpPr>
            <p:cNvPr id="170" name="Google Shape;170;p4"/>
            <p:cNvSpPr/>
            <p:nvPr/>
          </p:nvSpPr>
          <p:spPr>
            <a:xfrm>
              <a:off x="0" y="0"/>
              <a:ext cx="20955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4"/>
            <p:cNvSpPr txBox="1"/>
            <p:nvPr/>
          </p:nvSpPr>
          <p:spPr>
            <a:xfrm>
              <a:off x="0" y="0"/>
              <a:ext cx="2095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400">
                  <a:solidFill>
                    <a:srgbClr val="EF4444"/>
                  </a:solidFill>
                  <a:latin typeface="Arial"/>
                  <a:ea typeface="Arial"/>
                  <a:cs typeface="Arial"/>
                  <a:sym typeface="Arial"/>
                </a:rPr>
                <a:t>86</a:t>
              </a:r>
              <a:endParaRPr b="1" sz="3400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B91C1C"/>
                  </a:solidFill>
                  <a:latin typeface="Arial"/>
                  <a:ea typeface="Arial"/>
                  <a:cs typeface="Arial"/>
                  <a:sym typeface="Arial"/>
                </a:rPr>
                <a:t>Regressions</a:t>
              </a:r>
              <a:endParaRPr b="1" sz="1100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i="1" lang="en-US" sz="9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base pass → FT fail</a:t>
              </a:r>
              <a:endParaRPr i="1" sz="9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HumanEval+: 7</a:t>
              </a:r>
              <a:br>
                <a:rPr b="1" lang="en-US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lang="en-US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BigCodeBench: 79</a:t>
              </a:r>
              <a:endParaRPr b="1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2" name="Google Shape;172;p4"/>
          <p:cNvSpPr/>
          <p:nvPr/>
        </p:nvSpPr>
        <p:spPr>
          <a:xfrm>
            <a:off x="7239000" y="1428750"/>
            <a:ext cx="4358700" cy="4143300"/>
          </a:xfrm>
          <a:prstGeom prst="roundRect">
            <a:avLst>
              <a:gd fmla="val 3678" name="adj"/>
            </a:avLst>
          </a:prstGeom>
          <a:solidFill>
            <a:srgbClr val="F8FAFC"/>
          </a:solidFill>
          <a:ln cap="flat" cmpd="sng" w="143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3" name="Google Shape;173;p4"/>
          <p:cNvGrpSpPr/>
          <p:nvPr/>
        </p:nvGrpSpPr>
        <p:grpSpPr>
          <a:xfrm>
            <a:off x="7429500" y="1571625"/>
            <a:ext cx="3977700" cy="3857700"/>
            <a:chOff x="0" y="0"/>
            <a:chExt cx="3977700" cy="3857700"/>
          </a:xfrm>
        </p:grpSpPr>
        <p:sp>
          <p:nvSpPr>
            <p:cNvPr id="174" name="Google Shape;174;p4"/>
            <p:cNvSpPr/>
            <p:nvPr/>
          </p:nvSpPr>
          <p:spPr>
            <a:xfrm>
              <a:off x="0" y="0"/>
              <a:ext cx="3977700" cy="3857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4"/>
            <p:cNvSpPr txBox="1"/>
            <p:nvPr/>
          </p:nvSpPr>
          <p:spPr>
            <a:xfrm>
              <a:off x="0" y="0"/>
              <a:ext cx="3977700" cy="385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rPr>
                <a:t>Agreement with ReCatcher</a:t>
              </a:r>
              <a:endParaRPr b="1" sz="14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ReCatcher reported that Kotlin fine-tuning improved aggregate General Logic for DeepSeek-Coder, despite introducing localized regressions—particularly syntax errors.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ReCatcher · DeepSeek FT vs original</a:t>
              </a:r>
              <a:endParaRPr b="1" sz="105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Arial"/>
                <a:buChar char="●"/>
              </a:pPr>
              <a:r>
                <a:rPr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HumanEval+: </a:t>
              </a:r>
              <a:r>
                <a:rPr b="1" lang="en-US" sz="10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+14.94%</a:t>
              </a:r>
              <a:r>
                <a:rPr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in Incorrect Code / General Logic</a:t>
              </a:r>
              <a:endParaRPr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Arial"/>
                <a:buChar char="●"/>
              </a:pPr>
              <a:r>
                <a:rPr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BigCodeBench: </a:t>
              </a:r>
              <a:r>
                <a:rPr b="1" lang="en-US" sz="10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r>
                <a:rPr b="1" lang="en-US" sz="10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9.32%</a:t>
              </a:r>
              <a:r>
                <a:rPr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in Incorrect Code / General Logic</a:t>
              </a:r>
              <a:endParaRPr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Our paired evaluation</a:t>
              </a:r>
              <a:endParaRPr b="1" sz="105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Arial"/>
                <a:buChar char="●"/>
              </a:pPr>
              <a:r>
                <a:rPr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HumanEval+: </a:t>
              </a:r>
              <a:r>
                <a:rPr b="1" lang="en-US" sz="10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+22.57 pp</a:t>
              </a:r>
              <a:r>
                <a:rPr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in pass rate</a:t>
              </a:r>
              <a:endParaRPr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Arial"/>
                <a:buChar char="●"/>
              </a:pPr>
              <a:r>
                <a:rPr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BigCodeBench: </a:t>
              </a:r>
              <a:r>
                <a:rPr b="1" lang="en-US" sz="10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+7.19 pp</a:t>
              </a:r>
              <a:r>
                <a:rPr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in pass rate</a:t>
              </a:r>
              <a:endParaRPr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Arial"/>
                <a:buChar char="●"/>
              </a:pPr>
              <a:r>
                <a:rPr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Improvements outnumbered regressions by </a:t>
              </a:r>
              <a:r>
                <a:rPr b="1"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~3:1</a:t>
              </a:r>
              <a:r>
                <a:rPr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overall</a:t>
              </a:r>
              <a:endParaRPr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* The magnitudes are not directly comparable: ReCatcher used 10 generations per prompt and its own regression-percentage definition; our study used one canonical generation per task and official paired evaluation.</a:t>
              </a:r>
              <a:endParaRPr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i="1" lang="en-US" sz="8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Abbassi et al., ReCatcher: Towards LLMs Regression Testing for Code Generation, 2025.</a:t>
              </a:r>
              <a:endParaRPr i="1" sz="8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6" name="Google Shape;176;p4"/>
          <p:cNvSpPr/>
          <p:nvPr/>
        </p:nvSpPr>
        <p:spPr>
          <a:xfrm>
            <a:off x="784860" y="5810250"/>
            <a:ext cx="106224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DSTK100 · preliminary causal model diffing</a:t>
            </a:r>
            <a:endParaRPr/>
          </a:p>
        </p:txBody>
      </p:sp>
      <p:sp>
        <p:nvSpPr>
          <p:cNvPr id="183" name="Google Shape;183;p6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184" name="Google Shape;184;p6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FEATURE SCREENING</a:t>
            </a:r>
            <a:endParaRPr/>
          </a:p>
        </p:txBody>
      </p:sp>
      <p:sp>
        <p:nvSpPr>
          <p:cNvPr id="185" name="Google Shape;185;p6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We ranked stable contrasts—not raw activation alone</a:t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457200" y="1828800"/>
            <a:ext cx="1874519" cy="1920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 txBox="1"/>
          <p:nvPr/>
        </p:nvSpPr>
        <p:spPr>
          <a:xfrm>
            <a:off x="594360" y="2139696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4 summaries</a:t>
            </a:r>
            <a:endParaRPr/>
          </a:p>
        </p:txBody>
      </p:sp>
      <p:sp>
        <p:nvSpPr>
          <p:cNvPr id="188" name="Google Shape;188;p6"/>
          <p:cNvSpPr txBox="1"/>
          <p:nvPr/>
        </p:nvSpPr>
        <p:spPr>
          <a:xfrm>
            <a:off x="594360" y="2706624"/>
            <a:ext cx="1600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max · early_max</a:t>
            </a:r>
            <a:b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mean · active fraction</a:t>
            </a:r>
            <a:endParaRPr/>
          </a:p>
        </p:txBody>
      </p:sp>
      <p:sp>
        <p:nvSpPr>
          <p:cNvPr id="189" name="Google Shape;189;p6"/>
          <p:cNvSpPr txBox="1"/>
          <p:nvPr/>
        </p:nvSpPr>
        <p:spPr>
          <a:xfrm>
            <a:off x="2377440" y="2487168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2788920" y="1828800"/>
            <a:ext cx="1874519" cy="1920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 txBox="1"/>
          <p:nvPr/>
        </p:nvSpPr>
        <p:spPr>
          <a:xfrm>
            <a:off x="2926079" y="2139696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Δ per task</a:t>
            </a:r>
            <a:endParaRPr/>
          </a:p>
        </p:txBody>
      </p:sp>
      <p:sp>
        <p:nvSpPr>
          <p:cNvPr id="192" name="Google Shape;192;p6"/>
          <p:cNvSpPr txBox="1"/>
          <p:nvPr/>
        </p:nvSpPr>
        <p:spPr>
          <a:xfrm>
            <a:off x="2926079" y="2706624"/>
            <a:ext cx="1600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aggregate(FT text)</a:t>
            </a:r>
            <a:b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− aggregate(base text)</a:t>
            </a:r>
            <a:endParaRPr/>
          </a:p>
        </p:txBody>
      </p:sp>
      <p:sp>
        <p:nvSpPr>
          <p:cNvPr id="193" name="Google Shape;193;p6"/>
          <p:cNvSpPr txBox="1"/>
          <p:nvPr/>
        </p:nvSpPr>
        <p:spPr>
          <a:xfrm>
            <a:off x="4709160" y="2487168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5120640" y="1828800"/>
            <a:ext cx="1874519" cy="1920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 txBox="1"/>
          <p:nvPr/>
        </p:nvSpPr>
        <p:spPr>
          <a:xfrm>
            <a:off x="5257800" y="2139696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Observed effect</a:t>
            </a:r>
            <a:endParaRPr/>
          </a:p>
        </p:txBody>
      </p:sp>
      <p:sp>
        <p:nvSpPr>
          <p:cNvPr id="196" name="Google Shape;196;p6"/>
          <p:cNvSpPr txBox="1"/>
          <p:nvPr/>
        </p:nvSpPr>
        <p:spPr>
          <a:xfrm>
            <a:off x="5257800" y="2706624"/>
            <a:ext cx="1600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mean Δ positives</a:t>
            </a:r>
            <a:b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− mean Δ controls</a:t>
            </a:r>
            <a:endParaRPr/>
          </a:p>
        </p:txBody>
      </p:sp>
      <p:sp>
        <p:nvSpPr>
          <p:cNvPr id="197" name="Google Shape;197;p6"/>
          <p:cNvSpPr txBox="1"/>
          <p:nvPr/>
        </p:nvSpPr>
        <p:spPr>
          <a:xfrm>
            <a:off x="7040879" y="2487168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7452359" y="1828800"/>
            <a:ext cx="1874519" cy="1920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 txBox="1"/>
          <p:nvPr/>
        </p:nvSpPr>
        <p:spPr>
          <a:xfrm>
            <a:off x="7589519" y="2139696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200 permutations</a:t>
            </a:r>
            <a:endParaRPr/>
          </a:p>
        </p:txBody>
      </p:sp>
      <p:sp>
        <p:nvSpPr>
          <p:cNvPr id="200" name="Google Shape;200;p6"/>
          <p:cNvSpPr txBox="1"/>
          <p:nvPr/>
        </p:nvSpPr>
        <p:spPr>
          <a:xfrm>
            <a:off x="7589519" y="2706624"/>
            <a:ext cx="1600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shuffle labels;</a:t>
            </a:r>
            <a:b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recompute effect</a:t>
            </a:r>
            <a:endParaRPr/>
          </a:p>
        </p:txBody>
      </p:sp>
      <p:sp>
        <p:nvSpPr>
          <p:cNvPr id="201" name="Google Shape;201;p6"/>
          <p:cNvSpPr txBox="1"/>
          <p:nvPr/>
        </p:nvSpPr>
        <p:spPr>
          <a:xfrm>
            <a:off x="9372599" y="2487168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9784080" y="1828800"/>
            <a:ext cx="1874519" cy="1920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 txBox="1"/>
          <p:nvPr/>
        </p:nvSpPr>
        <p:spPr>
          <a:xfrm>
            <a:off x="9921240" y="2139696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E/V</a:t>
            </a:r>
            <a:endParaRPr/>
          </a:p>
        </p:txBody>
      </p:sp>
      <p:sp>
        <p:nvSpPr>
          <p:cNvPr id="204" name="Google Shape;204;p6"/>
          <p:cNvSpPr txBox="1"/>
          <p:nvPr/>
        </p:nvSpPr>
        <p:spPr>
          <a:xfrm>
            <a:off x="9921240" y="2706624"/>
            <a:ext cx="1600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effect ÷ null SD</a:t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914400" y="4343400"/>
            <a:ext cx="10332720" cy="105156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 txBox="1"/>
          <p:nvPr/>
        </p:nvSpPr>
        <p:spPr>
          <a:xfrm>
            <a:off x="1234440" y="46177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Minimum support</a:t>
            </a:r>
            <a:endParaRPr/>
          </a:p>
        </p:txBody>
      </p:sp>
      <p:sp>
        <p:nvSpPr>
          <p:cNvPr id="207" name="Google Shape;207;p6"/>
          <p:cNvSpPr txBox="1"/>
          <p:nvPr/>
        </p:nvSpPr>
        <p:spPr>
          <a:xfrm>
            <a:off x="2743200" y="4590288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max(3 tasks, 10% of positives)</a:t>
            </a:r>
            <a:endParaRPr/>
          </a:p>
        </p:txBody>
      </p:sp>
      <p:sp>
        <p:nvSpPr>
          <p:cNvPr id="208" name="Google Shape;208;p6"/>
          <p:cNvSpPr txBox="1"/>
          <p:nvPr/>
        </p:nvSpPr>
        <p:spPr>
          <a:xfrm>
            <a:off x="5806440" y="4572000"/>
            <a:ext cx="4983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E/V is a permutation signal-to-noise score—not a z-score or a p-value.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DSTK100 · preliminary causal model diffing</a:t>
            </a:r>
            <a:endParaRPr/>
          </a:p>
        </p:txBody>
      </p:sp>
      <p:sp>
        <p:nvSpPr>
          <p:cNvPr id="215" name="Google Shape;215;p7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216" name="Google Shape;216;p7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SCREENING RESULT</a:t>
            </a:r>
            <a:endParaRPr/>
          </a:p>
        </p:txBody>
      </p:sp>
      <p:sp>
        <p:nvSpPr>
          <p:cNvPr id="217" name="Google Shape;217;p7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Feature 6404 ranked #2—and the result was specification-robust</a:t>
            </a:r>
            <a:endParaRPr/>
          </a:p>
        </p:txBody>
      </p:sp>
      <p:pic>
        <p:nvPicPr>
          <p:cNvPr descr="ev_top10.png" id="218" name="Google Shape;21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371600"/>
            <a:ext cx="7498079" cy="3984623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7"/>
          <p:cNvSpPr/>
          <p:nvPr/>
        </p:nvSpPr>
        <p:spPr>
          <a:xfrm>
            <a:off x="8366760" y="1645920"/>
            <a:ext cx="2971800" cy="352044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 txBox="1"/>
          <p:nvPr/>
        </p:nvSpPr>
        <p:spPr>
          <a:xfrm>
            <a:off x="8732520" y="2011680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6404</a:t>
            </a:r>
            <a:endParaRPr/>
          </a:p>
        </p:txBody>
      </p:sp>
      <p:sp>
        <p:nvSpPr>
          <p:cNvPr id="221" name="Google Shape;221;p7"/>
          <p:cNvSpPr txBox="1"/>
          <p:nvPr/>
        </p:nvSpPr>
        <p:spPr>
          <a:xfrm>
            <a:off x="8732520" y="2770632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E/V 4.47</a:t>
            </a:r>
            <a:endParaRPr/>
          </a:p>
        </p:txBody>
      </p:sp>
      <p:sp>
        <p:nvSpPr>
          <p:cNvPr id="222" name="Google Shape;222;p7"/>
          <p:cNvSpPr txBox="1"/>
          <p:nvPr/>
        </p:nvSpPr>
        <p:spPr>
          <a:xfrm>
            <a:off x="8732520" y="3246120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47 / 79 support</a:t>
            </a:r>
            <a:endParaRPr/>
          </a:p>
        </p:txBody>
      </p:sp>
      <p:sp>
        <p:nvSpPr>
          <p:cNvPr id="223" name="Google Shape;223;p7"/>
          <p:cNvSpPr txBox="1"/>
          <p:nvPr/>
        </p:nvSpPr>
        <p:spPr>
          <a:xfrm>
            <a:off x="8641080" y="3950208"/>
            <a:ext cx="2423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Same Top 10 with all four aggregations or E/V alone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DSTK100 · preliminary causal model diffing</a:t>
            </a:r>
            <a:endParaRPr/>
          </a:p>
        </p:txBody>
      </p:sp>
      <p:sp>
        <p:nvSpPr>
          <p:cNvPr id="230" name="Google Shape;230;p9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231" name="Google Shape;231;p9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SELECTION LOGIC</a:t>
            </a:r>
            <a:endParaRPr/>
          </a:p>
        </p:txBody>
      </p:sp>
      <p:sp>
        <p:nvSpPr>
          <p:cNvPr id="232" name="Google Shape;232;p9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 good causal candidate aligns meaning, failure mode, and timing</a:t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594360" y="1828800"/>
            <a:ext cx="3337560" cy="2331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 txBox="1"/>
          <p:nvPr/>
        </p:nvSpPr>
        <p:spPr>
          <a:xfrm>
            <a:off x="822960" y="2212848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MEANING</a:t>
            </a:r>
            <a:endParaRPr/>
          </a:p>
        </p:txBody>
      </p:sp>
      <p:sp>
        <p:nvSpPr>
          <p:cNvPr id="235" name="Google Shape;235;p9"/>
          <p:cNvSpPr txBox="1"/>
          <p:nvPr/>
        </p:nvSpPr>
        <p:spPr>
          <a:xfrm>
            <a:off x="914400" y="2852928"/>
            <a:ext cx="2697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What tokens and contexts</a:t>
            </a:r>
            <a:b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activate the feature?</a:t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4416552" y="1828800"/>
            <a:ext cx="3337560" cy="2331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 txBox="1"/>
          <p:nvPr/>
        </p:nvSpPr>
        <p:spPr>
          <a:xfrm>
            <a:off x="4645152" y="2212848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FAILURE MODE</a:t>
            </a:r>
            <a:endParaRPr/>
          </a:p>
        </p:txBody>
      </p:sp>
      <p:sp>
        <p:nvSpPr>
          <p:cNvPr id="238" name="Google Shape;238;p9"/>
          <p:cNvSpPr txBox="1"/>
          <p:nvPr/>
        </p:nvSpPr>
        <p:spPr>
          <a:xfrm>
            <a:off x="4736592" y="2852928"/>
            <a:ext cx="2697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Which behavioral transition</a:t>
            </a:r>
            <a:b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is it associated with?</a:t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8238744" y="1828800"/>
            <a:ext cx="3337560" cy="2331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 txBox="1"/>
          <p:nvPr/>
        </p:nvSpPr>
        <p:spPr>
          <a:xfrm>
            <a:off x="8467344" y="2212848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TIMING</a:t>
            </a:r>
            <a:endParaRPr/>
          </a:p>
        </p:txBody>
      </p:sp>
      <p:sp>
        <p:nvSpPr>
          <p:cNvPr id="241" name="Google Shape;241;p9"/>
          <p:cNvSpPr txBox="1"/>
          <p:nvPr/>
        </p:nvSpPr>
        <p:spPr>
          <a:xfrm>
            <a:off x="8558784" y="2852928"/>
            <a:ext cx="2697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Does activation precede</a:t>
            </a:r>
            <a:b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relevant decision?</a:t>
            </a:r>
            <a:endParaRPr/>
          </a:p>
        </p:txBody>
      </p:sp>
      <p:sp>
        <p:nvSpPr>
          <p:cNvPr id="242" name="Google Shape;242;p9"/>
          <p:cNvSpPr txBox="1"/>
          <p:nvPr/>
        </p:nvSpPr>
        <p:spPr>
          <a:xfrm>
            <a:off x="914400" y="4892040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Semantic clarity alone is not enough: a late feature may be a consequence or style marker.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DSTK100 · preliminary causal model diffing</a:t>
            </a:r>
            <a:endParaRPr/>
          </a:p>
        </p:txBody>
      </p:sp>
      <p:sp>
        <p:nvSpPr>
          <p:cNvPr id="249" name="Google Shape;249;p10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250" name="Google Shape;250;p10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TEMPORAL PLAUSIBILITY</a:t>
            </a:r>
            <a:endParaRPr/>
          </a:p>
        </p:txBody>
      </p:sp>
      <p:sp>
        <p:nvSpPr>
          <p:cNvPr id="251" name="Google Shape;251;p10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First-activation position separates plausible causes from late markers</a:t>
            </a:r>
            <a:endParaRPr/>
          </a:p>
        </p:txBody>
      </p:sp>
      <p:pic>
        <p:nvPicPr>
          <p:cNvPr descr="feature_first_activation.png" id="252" name="Google Shape;25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234440"/>
            <a:ext cx="7955279" cy="3944047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0"/>
          <p:cNvSpPr/>
          <p:nvPr/>
        </p:nvSpPr>
        <p:spPr>
          <a:xfrm>
            <a:off x="8823960" y="1554480"/>
            <a:ext cx="2514600" cy="4069080"/>
          </a:xfrm>
          <a:prstGeom prst="roundRect">
            <a:avLst>
              <a:gd fmla="val 16667" name="adj"/>
            </a:avLst>
          </a:prstGeom>
          <a:solidFill>
            <a:srgbClr val="FFF7ED"/>
          </a:solidFill>
          <a:ln cap="flat" cmpd="sng" w="9525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 txBox="1"/>
          <p:nvPr/>
        </p:nvSpPr>
        <p:spPr>
          <a:xfrm>
            <a:off x="9144000" y="1874519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/>
          </a:p>
        </p:txBody>
      </p:sp>
      <p:sp>
        <p:nvSpPr>
          <p:cNvPr id="255" name="Google Shape;255;p10"/>
          <p:cNvSpPr txBox="1"/>
          <p:nvPr/>
        </p:nvSpPr>
        <p:spPr>
          <a:xfrm>
            <a:off x="9144000" y="23317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Feature 12956</a:t>
            </a:r>
            <a:endParaRPr/>
          </a:p>
        </p:txBody>
      </p:sp>
      <p:sp>
        <p:nvSpPr>
          <p:cNvPr id="256" name="Google Shape;256;p10"/>
          <p:cNvSpPr txBox="1"/>
          <p:nvPr/>
        </p:nvSpPr>
        <p:spPr>
          <a:xfrm>
            <a:off x="9144000" y="278892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Expected output / examples</a:t>
            </a:r>
            <a:endParaRPr/>
          </a:p>
        </p:txBody>
      </p:sp>
      <p:sp>
        <p:nvSpPr>
          <p:cNvPr id="257" name="Google Shape;257;p10"/>
          <p:cNvSpPr txBox="1"/>
          <p:nvPr/>
        </p:nvSpPr>
        <p:spPr>
          <a:xfrm>
            <a:off x="9144000" y="3657600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Semantically clear—often too late to explain the implementation decision.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DSTK100 · preliminary causal model diffing</a:t>
            </a:r>
            <a:endParaRPr/>
          </a:p>
        </p:txBody>
      </p:sp>
      <p:sp>
        <p:nvSpPr>
          <p:cNvPr id="264" name="Google Shape;264;p11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265" name="Google Shape;265;p11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MECHANISTIC DISCOVERY</a:t>
            </a:r>
            <a:endParaRPr/>
          </a:p>
        </p:txBody>
      </p:sp>
      <p:sp>
        <p:nvSpPr>
          <p:cNvPr id="266" name="Google Shape;266;p11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pearl: many ‘improvements’ were simply cleaner stopping behavior</a:t>
            </a:r>
            <a:endParaRPr/>
          </a:p>
        </p:txBody>
      </p:sp>
      <p:sp>
        <p:nvSpPr>
          <p:cNvPr id="267" name="Google Shape;267;p11"/>
          <p:cNvSpPr txBox="1"/>
          <p:nvPr/>
        </p:nvSpPr>
        <p:spPr>
          <a:xfrm>
            <a:off x="822960" y="1508760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119 / 215</a:t>
            </a:r>
            <a:endParaRPr/>
          </a:p>
        </p:txBody>
      </p:sp>
      <p:sp>
        <p:nvSpPr>
          <p:cNvPr id="268" name="Google Shape;268;p11"/>
          <p:cNvSpPr txBox="1"/>
          <p:nvPr/>
        </p:nvSpPr>
        <p:spPr>
          <a:xfrm>
            <a:off x="822960" y="228600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BigCodeBench improvements</a:t>
            </a:r>
            <a:endParaRPr/>
          </a:p>
        </p:txBody>
      </p:sp>
      <p:sp>
        <p:nvSpPr>
          <p:cNvPr id="269" name="Google Shape;269;p11"/>
          <p:cNvSpPr txBox="1"/>
          <p:nvPr/>
        </p:nvSpPr>
        <p:spPr>
          <a:xfrm>
            <a:off x="822960" y="2926080"/>
            <a:ext cx="3840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55%</a:t>
            </a:r>
            <a:endParaRPr/>
          </a:p>
        </p:txBody>
      </p:sp>
      <p:sp>
        <p:nvSpPr>
          <p:cNvPr id="270" name="Google Shape;270;p11"/>
          <p:cNvSpPr txBox="1"/>
          <p:nvPr/>
        </p:nvSpPr>
        <p:spPr>
          <a:xfrm>
            <a:off x="868680" y="3867912"/>
            <a:ext cx="3749039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test/import contamination in the base output</a:t>
            </a: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5166360" y="1325880"/>
            <a:ext cx="5989320" cy="4160520"/>
          </a:xfrm>
          <a:prstGeom prst="roundRect">
            <a:avLst>
              <a:gd fmla="val 16667" name="adj"/>
            </a:avLst>
          </a:prstGeom>
          <a:solidFill>
            <a:srgbClr val="172033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 txBox="1"/>
          <p:nvPr/>
        </p:nvSpPr>
        <p:spPr>
          <a:xfrm>
            <a:off x="5532120" y="1783080"/>
            <a:ext cx="525780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def task_func(...):</a:t>
            </a:r>
            <a:b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 ... plausible solution ...</a:t>
            </a:r>
            <a:b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b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-# tests</a:t>
            </a:r>
            <a:b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-from task_func import task_func</a:t>
            </a:r>
            <a:endParaRPr/>
          </a:p>
        </p:txBody>
      </p:sp>
      <p:sp>
        <p:nvSpPr>
          <p:cNvPr id="273" name="Google Shape;273;p11"/>
          <p:cNvSpPr txBox="1"/>
          <p:nvPr/>
        </p:nvSpPr>
        <p:spPr>
          <a:xfrm>
            <a:off x="5532120" y="4434840"/>
            <a:ext cx="5257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The fine-tuned model often won by stopping—not by implementing a different algorithm.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DSTK100 · preliminary causal model diffing</a:t>
            </a:r>
            <a:endParaRPr/>
          </a:p>
        </p:txBody>
      </p:sp>
      <p:sp>
        <p:nvSpPr>
          <p:cNvPr id="280" name="Google Shape;280;p12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sp>
        <p:nvSpPr>
          <p:cNvPr id="281" name="Google Shape;281;p12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FEATURE INTERPRETATION</a:t>
            </a:r>
            <a:endParaRPr/>
          </a:p>
        </p:txBody>
      </p:sp>
      <p:sp>
        <p:nvSpPr>
          <p:cNvPr id="282" name="Google Shape;282;p12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Feature 6404 matched the semantics of post-solution continuation</a:t>
            </a:r>
            <a:endParaRPr/>
          </a:p>
        </p:txBody>
      </p:sp>
      <p:sp>
        <p:nvSpPr>
          <p:cNvPr id="283" name="Google Shape;283;p12"/>
          <p:cNvSpPr/>
          <p:nvPr/>
        </p:nvSpPr>
        <p:spPr>
          <a:xfrm>
            <a:off x="685800" y="1508760"/>
            <a:ext cx="4754880" cy="406908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 txBox="1"/>
          <p:nvPr/>
        </p:nvSpPr>
        <p:spPr>
          <a:xfrm>
            <a:off x="1051560" y="182880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6404</a:t>
            </a:r>
            <a:endParaRPr/>
          </a:p>
        </p:txBody>
      </p:sp>
      <p:sp>
        <p:nvSpPr>
          <p:cNvPr id="285" name="Google Shape;285;p12"/>
          <p:cNvSpPr txBox="1"/>
          <p:nvPr/>
        </p:nvSpPr>
        <p:spPr>
          <a:xfrm>
            <a:off x="1051560" y="25146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Dominant activation contexts</a:t>
            </a:r>
            <a:endParaRPr/>
          </a:p>
        </p:txBody>
      </p:sp>
      <p:sp>
        <p:nvSpPr>
          <p:cNvPr id="286" name="Google Shape;286;p12"/>
          <p:cNvSpPr txBox="1"/>
          <p:nvPr/>
        </p:nvSpPr>
        <p:spPr>
          <a:xfrm>
            <a:off x="1234440" y="297180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expected</a:t>
            </a:r>
            <a:endParaRPr/>
          </a:p>
        </p:txBody>
      </p:sp>
      <p:sp>
        <p:nvSpPr>
          <p:cNvPr id="287" name="Google Shape;287;p12"/>
          <p:cNvSpPr txBox="1"/>
          <p:nvPr/>
        </p:nvSpPr>
        <p:spPr>
          <a:xfrm>
            <a:off x="1234440" y="344728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should</a:t>
            </a:r>
            <a:endParaRPr/>
          </a:p>
        </p:txBody>
      </p:sp>
      <p:sp>
        <p:nvSpPr>
          <p:cNvPr id="288" name="Google Shape;288;p12"/>
          <p:cNvSpPr txBox="1"/>
          <p:nvPr/>
        </p:nvSpPr>
        <p:spPr>
          <a:xfrm>
            <a:off x="1234440" y="3922776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assumptions / caveats</a:t>
            </a:r>
            <a:endParaRPr/>
          </a:p>
        </p:txBody>
      </p:sp>
      <p:sp>
        <p:nvSpPr>
          <p:cNvPr id="289" name="Google Shape;289;p12"/>
          <p:cNvSpPr txBox="1"/>
          <p:nvPr/>
        </p:nvSpPr>
        <p:spPr>
          <a:xfrm>
            <a:off x="1234440" y="4398264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comments and boilerplate</a:t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5806440" y="1508760"/>
            <a:ext cx="5440680" cy="4069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 txBox="1"/>
          <p:nvPr/>
        </p:nvSpPr>
        <p:spPr>
          <a:xfrm>
            <a:off x="6217920" y="1874519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67%</a:t>
            </a:r>
            <a:endParaRPr/>
          </a:p>
        </p:txBody>
      </p:sp>
      <p:sp>
        <p:nvSpPr>
          <p:cNvPr id="292" name="Google Shape;292;p12"/>
          <p:cNvSpPr txBox="1"/>
          <p:nvPr/>
        </p:nvSpPr>
        <p:spPr>
          <a:xfrm>
            <a:off x="6217920" y="26060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contamination cases</a:t>
            </a:r>
            <a:endParaRPr/>
          </a:p>
        </p:txBody>
      </p:sp>
      <p:sp>
        <p:nvSpPr>
          <p:cNvPr id="293" name="Google Shape;293;p12"/>
          <p:cNvSpPr txBox="1"/>
          <p:nvPr/>
        </p:nvSpPr>
        <p:spPr>
          <a:xfrm>
            <a:off x="8229600" y="205740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vs</a:t>
            </a:r>
            <a:endParaRPr/>
          </a:p>
        </p:txBody>
      </p:sp>
      <p:sp>
        <p:nvSpPr>
          <p:cNvPr id="294" name="Google Shape;294;p12"/>
          <p:cNvSpPr txBox="1"/>
          <p:nvPr/>
        </p:nvSpPr>
        <p:spPr>
          <a:xfrm>
            <a:off x="8823960" y="1874519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  <a:endParaRPr/>
          </a:p>
        </p:txBody>
      </p:sp>
      <p:sp>
        <p:nvSpPr>
          <p:cNvPr id="295" name="Google Shape;295;p12"/>
          <p:cNvSpPr txBox="1"/>
          <p:nvPr/>
        </p:nvSpPr>
        <p:spPr>
          <a:xfrm>
            <a:off x="8823960" y="26060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other improvements</a:t>
            </a:r>
            <a:endParaRPr/>
          </a:p>
        </p:txBody>
      </p:sp>
      <p:sp>
        <p:nvSpPr>
          <p:cNvPr id="296" name="Google Shape;296;p12"/>
          <p:cNvSpPr txBox="1"/>
          <p:nvPr/>
        </p:nvSpPr>
        <p:spPr>
          <a:xfrm>
            <a:off x="6492240" y="365760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Exploratory odds ratio ≈ 4.44</a:t>
            </a:r>
            <a:endParaRPr/>
          </a:p>
        </p:txBody>
      </p:sp>
      <p:sp>
        <p:nvSpPr>
          <p:cNvPr id="297" name="Google Shape;297;p12"/>
          <p:cNvSpPr txBox="1"/>
          <p:nvPr/>
        </p:nvSpPr>
        <p:spPr>
          <a:xfrm>
            <a:off x="6400800" y="4389120"/>
            <a:ext cx="4297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Association generated the hypothesis; it did not establish causality.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DSTK100 · preliminary causal model diffing</a:t>
            </a:r>
            <a:endParaRPr/>
          </a:p>
        </p:txBody>
      </p:sp>
      <p:sp>
        <p:nvSpPr>
          <p:cNvPr id="304" name="Google Shape;304;p13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305" name="Google Shape;305;p13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CAUSAL DESIGN</a:t>
            </a:r>
            <a:endParaRPr/>
          </a:p>
        </p:txBody>
      </p:sp>
      <p:sp>
        <p:nvSpPr>
          <p:cNvPr id="306" name="Google Shape;306;p13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 deliberately selected cohort turned the hypothesis into a test</a:t>
            </a:r>
            <a:endParaRPr/>
          </a:p>
        </p:txBody>
      </p:sp>
      <p:sp>
        <p:nvSpPr>
          <p:cNvPr id="307" name="Google Shape;307;p13"/>
          <p:cNvSpPr/>
          <p:nvPr/>
        </p:nvSpPr>
        <p:spPr>
          <a:xfrm>
            <a:off x="640080" y="1691640"/>
            <a:ext cx="2377440" cy="1920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3"/>
          <p:cNvSpPr txBox="1"/>
          <p:nvPr/>
        </p:nvSpPr>
        <p:spPr>
          <a:xfrm>
            <a:off x="1463040" y="1965960"/>
            <a:ext cx="731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09" name="Google Shape;309;p13"/>
          <p:cNvSpPr txBox="1"/>
          <p:nvPr/>
        </p:nvSpPr>
        <p:spPr>
          <a:xfrm>
            <a:off x="868680" y="27432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Base failed</a:t>
            </a:r>
            <a:endParaRPr/>
          </a:p>
        </p:txBody>
      </p:sp>
      <p:sp>
        <p:nvSpPr>
          <p:cNvPr id="310" name="Google Shape;310;p13"/>
          <p:cNvSpPr/>
          <p:nvPr/>
        </p:nvSpPr>
        <p:spPr>
          <a:xfrm>
            <a:off x="3429000" y="1691640"/>
            <a:ext cx="2377440" cy="1920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 txBox="1"/>
          <p:nvPr/>
        </p:nvSpPr>
        <p:spPr>
          <a:xfrm>
            <a:off x="4251960" y="1965960"/>
            <a:ext cx="731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12" name="Google Shape;312;p13"/>
          <p:cNvSpPr txBox="1"/>
          <p:nvPr/>
        </p:nvSpPr>
        <p:spPr>
          <a:xfrm>
            <a:off x="3657600" y="27432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Fine-tuned passed</a:t>
            </a:r>
            <a:endParaRPr/>
          </a:p>
        </p:txBody>
      </p:sp>
      <p:sp>
        <p:nvSpPr>
          <p:cNvPr id="313" name="Google Shape;313;p13"/>
          <p:cNvSpPr/>
          <p:nvPr/>
        </p:nvSpPr>
        <p:spPr>
          <a:xfrm>
            <a:off x="6217920" y="1691640"/>
            <a:ext cx="2377440" cy="1920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"/>
          <p:cNvSpPr txBox="1"/>
          <p:nvPr/>
        </p:nvSpPr>
        <p:spPr>
          <a:xfrm>
            <a:off x="7040880" y="1965960"/>
            <a:ext cx="731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15" name="Google Shape;315;p13"/>
          <p:cNvSpPr txBox="1"/>
          <p:nvPr/>
        </p:nvSpPr>
        <p:spPr>
          <a:xfrm>
            <a:off x="6446520" y="27432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Base generated tests/imports</a:t>
            </a:r>
            <a:endParaRPr/>
          </a:p>
        </p:txBody>
      </p:sp>
      <p:sp>
        <p:nvSpPr>
          <p:cNvPr id="316" name="Google Shape;316;p13"/>
          <p:cNvSpPr/>
          <p:nvPr/>
        </p:nvSpPr>
        <p:spPr>
          <a:xfrm>
            <a:off x="9006839" y="1691640"/>
            <a:ext cx="2377440" cy="1920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 txBox="1"/>
          <p:nvPr/>
        </p:nvSpPr>
        <p:spPr>
          <a:xfrm>
            <a:off x="9829799" y="1965960"/>
            <a:ext cx="731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318" name="Google Shape;318;p13"/>
          <p:cNvSpPr txBox="1"/>
          <p:nvPr/>
        </p:nvSpPr>
        <p:spPr>
          <a:xfrm>
            <a:off x="9235439" y="27432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Feature 6404 was naturally active</a:t>
            </a:r>
            <a:endParaRPr/>
          </a:p>
        </p:txBody>
      </p:sp>
      <p:sp>
        <p:nvSpPr>
          <p:cNvPr id="319" name="Google Shape;319;p13"/>
          <p:cNvSpPr txBox="1"/>
          <p:nvPr/>
        </p:nvSpPr>
        <p:spPr>
          <a:xfrm>
            <a:off x="4251960" y="4160520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/>
          </a:p>
        </p:txBody>
      </p:sp>
      <p:sp>
        <p:nvSpPr>
          <p:cNvPr id="320" name="Google Shape;320;p13"/>
          <p:cNvSpPr txBox="1"/>
          <p:nvPr/>
        </p:nvSpPr>
        <p:spPr>
          <a:xfrm>
            <a:off x="5394960" y="434340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mechanistic cases</a:t>
            </a:r>
            <a:endParaRPr/>
          </a:p>
        </p:txBody>
      </p:sp>
      <p:sp>
        <p:nvSpPr>
          <p:cNvPr id="321" name="Google Shape;321;p13"/>
          <p:cNvSpPr txBox="1"/>
          <p:nvPr/>
        </p:nvSpPr>
        <p:spPr>
          <a:xfrm>
            <a:off x="2743200" y="5257800"/>
            <a:ext cx="6675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Selected for mechanism—not an out-of-sample estimate.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DSTK100 · preliminary causal model diffing</a:t>
            </a:r>
            <a:endParaRPr/>
          </a:p>
        </p:txBody>
      </p:sp>
      <p:sp>
        <p:nvSpPr>
          <p:cNvPr id="328" name="Google Shape;328;p14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329" name="Google Shape;329;p14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ONLINE GATED STEERING</a:t>
            </a:r>
            <a:endParaRPr/>
          </a:p>
        </p:txBody>
      </p:sp>
      <p:sp>
        <p:nvSpPr>
          <p:cNvPr id="330" name="Google Shape;330;p14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We intervened only when 6404 entered the natural TopK</a:t>
            </a:r>
            <a:endParaRPr/>
          </a:p>
        </p:txBody>
      </p:sp>
      <p:sp>
        <p:nvSpPr>
          <p:cNvPr id="331" name="Google Shape;331;p14"/>
          <p:cNvSpPr/>
          <p:nvPr/>
        </p:nvSpPr>
        <p:spPr>
          <a:xfrm>
            <a:off x="411480" y="1691640"/>
            <a:ext cx="196596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4"/>
          <p:cNvSpPr txBox="1"/>
          <p:nvPr/>
        </p:nvSpPr>
        <p:spPr>
          <a:xfrm>
            <a:off x="548640" y="196596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Current token</a:t>
            </a:r>
            <a:endParaRPr/>
          </a:p>
        </p:txBody>
      </p:sp>
      <p:sp>
        <p:nvSpPr>
          <p:cNvPr id="333" name="Google Shape;333;p14"/>
          <p:cNvSpPr txBox="1"/>
          <p:nvPr/>
        </p:nvSpPr>
        <p:spPr>
          <a:xfrm>
            <a:off x="548640" y="242316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capture layer 16</a:t>
            </a:r>
            <a:endParaRPr/>
          </a:p>
        </p:txBody>
      </p:sp>
      <p:sp>
        <p:nvSpPr>
          <p:cNvPr id="334" name="Google Shape;334;p14"/>
          <p:cNvSpPr txBox="1"/>
          <p:nvPr/>
        </p:nvSpPr>
        <p:spPr>
          <a:xfrm>
            <a:off x="2377440" y="210312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335" name="Google Shape;335;p14"/>
          <p:cNvSpPr/>
          <p:nvPr/>
        </p:nvSpPr>
        <p:spPr>
          <a:xfrm>
            <a:off x="2770632" y="1691640"/>
            <a:ext cx="196596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 txBox="1"/>
          <p:nvPr/>
        </p:nvSpPr>
        <p:spPr>
          <a:xfrm>
            <a:off x="2907792" y="196596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Paired residuals</a:t>
            </a:r>
            <a:endParaRPr/>
          </a:p>
        </p:txBody>
      </p:sp>
      <p:sp>
        <p:nvSpPr>
          <p:cNvPr id="337" name="Google Shape;337;p14"/>
          <p:cNvSpPr txBox="1"/>
          <p:nvPr/>
        </p:nvSpPr>
        <p:spPr>
          <a:xfrm>
            <a:off x="2907792" y="242316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RMS normalize</a:t>
            </a:r>
            <a:endParaRPr/>
          </a:p>
        </p:txBody>
      </p:sp>
      <p:sp>
        <p:nvSpPr>
          <p:cNvPr id="338" name="Google Shape;338;p14"/>
          <p:cNvSpPr txBox="1"/>
          <p:nvPr/>
        </p:nvSpPr>
        <p:spPr>
          <a:xfrm>
            <a:off x="4736592" y="210312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339" name="Google Shape;339;p14"/>
          <p:cNvSpPr/>
          <p:nvPr/>
        </p:nvSpPr>
        <p:spPr>
          <a:xfrm>
            <a:off x="5129784" y="1691640"/>
            <a:ext cx="196596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4"/>
          <p:cNvSpPr txBox="1"/>
          <p:nvPr/>
        </p:nvSpPr>
        <p:spPr>
          <a:xfrm>
            <a:off x="5266944" y="196596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DSTK100</a:t>
            </a:r>
            <a:endParaRPr/>
          </a:p>
        </p:txBody>
      </p:sp>
      <p:sp>
        <p:nvSpPr>
          <p:cNvPr id="341" name="Google Shape;341;p14"/>
          <p:cNvSpPr txBox="1"/>
          <p:nvPr/>
        </p:nvSpPr>
        <p:spPr>
          <a:xfrm>
            <a:off x="5266944" y="242316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ReLU + TopK 100</a:t>
            </a:r>
            <a:endParaRPr/>
          </a:p>
        </p:txBody>
      </p:sp>
      <p:sp>
        <p:nvSpPr>
          <p:cNvPr id="342" name="Google Shape;342;p14"/>
          <p:cNvSpPr txBox="1"/>
          <p:nvPr/>
        </p:nvSpPr>
        <p:spPr>
          <a:xfrm>
            <a:off x="7095744" y="210312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343" name="Google Shape;343;p14"/>
          <p:cNvSpPr/>
          <p:nvPr/>
        </p:nvSpPr>
        <p:spPr>
          <a:xfrm>
            <a:off x="7488936" y="1691640"/>
            <a:ext cx="196596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4"/>
          <p:cNvSpPr txBox="1"/>
          <p:nvPr/>
        </p:nvSpPr>
        <p:spPr>
          <a:xfrm>
            <a:off x="7626096" y="196596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6404 active?</a:t>
            </a:r>
            <a:endParaRPr/>
          </a:p>
        </p:txBody>
      </p:sp>
      <p:sp>
        <p:nvSpPr>
          <p:cNvPr id="345" name="Google Shape;345;p14"/>
          <p:cNvSpPr txBox="1"/>
          <p:nvPr/>
        </p:nvSpPr>
        <p:spPr>
          <a:xfrm>
            <a:off x="7626096" y="242316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gate intervention</a:t>
            </a:r>
            <a:endParaRPr/>
          </a:p>
        </p:txBody>
      </p:sp>
      <p:sp>
        <p:nvSpPr>
          <p:cNvPr id="346" name="Google Shape;346;p14"/>
          <p:cNvSpPr txBox="1"/>
          <p:nvPr/>
        </p:nvSpPr>
        <p:spPr>
          <a:xfrm>
            <a:off x="9454896" y="210312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347" name="Google Shape;347;p14"/>
          <p:cNvSpPr/>
          <p:nvPr/>
        </p:nvSpPr>
        <p:spPr>
          <a:xfrm>
            <a:off x="9848088" y="1691640"/>
            <a:ext cx="196596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 txBox="1"/>
          <p:nvPr/>
        </p:nvSpPr>
        <p:spPr>
          <a:xfrm>
            <a:off x="9985248" y="196596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Next token</a:t>
            </a:r>
            <a:endParaRPr/>
          </a:p>
        </p:txBody>
      </p:sp>
      <p:sp>
        <p:nvSpPr>
          <p:cNvPr id="349" name="Google Shape;349;p14"/>
          <p:cNvSpPr txBox="1"/>
          <p:nvPr/>
        </p:nvSpPr>
        <p:spPr>
          <a:xfrm>
            <a:off x="9985248" y="242316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continue generation</a:t>
            </a:r>
            <a:endParaRPr/>
          </a:p>
        </p:txBody>
      </p:sp>
      <p:sp>
        <p:nvSpPr>
          <p:cNvPr id="350" name="Google Shape;350;p14"/>
          <p:cNvSpPr/>
          <p:nvPr/>
        </p:nvSpPr>
        <p:spPr>
          <a:xfrm>
            <a:off x="1280160" y="3886200"/>
            <a:ext cx="9646920" cy="1188720"/>
          </a:xfrm>
          <a:prstGeom prst="roundRect">
            <a:avLst>
              <a:gd fmla="val 16667" name="adj"/>
            </a:avLst>
          </a:prstGeom>
          <a:solidFill>
            <a:srgbClr val="172033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4"/>
          <p:cNvSpPr txBox="1"/>
          <p:nvPr/>
        </p:nvSpPr>
        <p:spPr>
          <a:xfrm>
            <a:off x="1645920" y="4224528"/>
            <a:ext cx="8915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h′ₜ = hₜ + α · z₆₄₀₄,ₜ · RMS(hₜ) · d₆₄₀₄,base</a:t>
            </a:r>
            <a:endParaRPr/>
          </a:p>
        </p:txBody>
      </p:sp>
      <p:sp>
        <p:nvSpPr>
          <p:cNvPr id="352" name="Google Shape;352;p14"/>
          <p:cNvSpPr txBox="1"/>
          <p:nvPr/>
        </p:nvSpPr>
        <p:spPr>
          <a:xfrm>
            <a:off x="1828800" y="5413248"/>
            <a:ext cx="8503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intervention changes the next-token distribution; it does not rewrite earlier tokens.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5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DSTK100 · preliminary causal model diffing</a:t>
            </a:r>
            <a:endParaRPr/>
          </a:p>
        </p:txBody>
      </p:sp>
      <p:sp>
        <p:nvSpPr>
          <p:cNvPr id="360" name="Google Shape;360;p15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sp>
        <p:nvSpPr>
          <p:cNvPr id="361" name="Google Shape;361;p15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TOKEN-LEVEL CASE</a:t>
            </a:r>
            <a:endParaRPr/>
          </a:p>
        </p:txBody>
      </p:sp>
      <p:sp>
        <p:nvSpPr>
          <p:cNvPr id="362" name="Google Shape;362;p15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One example: the baseline solved the task, then imported its own test</a:t>
            </a:r>
            <a:endParaRPr/>
          </a:p>
        </p:txBody>
      </p:sp>
      <p:sp>
        <p:nvSpPr>
          <p:cNvPr id="363" name="Google Shape;363;p15"/>
          <p:cNvSpPr/>
          <p:nvPr/>
        </p:nvSpPr>
        <p:spPr>
          <a:xfrm>
            <a:off x="548640" y="1325880"/>
            <a:ext cx="5440680" cy="3566160"/>
          </a:xfrm>
          <a:prstGeom prst="roundRect">
            <a:avLst>
              <a:gd fmla="val 16667" name="adj"/>
            </a:avLst>
          </a:prstGeom>
          <a:solidFill>
            <a:srgbClr val="FFF7ED"/>
          </a:solidFill>
          <a:ln cap="flat" cmpd="sng" w="9525">
            <a:solidFill>
              <a:srgbClr val="FDBA7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5"/>
          <p:cNvSpPr txBox="1"/>
          <p:nvPr/>
        </p:nvSpPr>
        <p:spPr>
          <a:xfrm>
            <a:off x="868680" y="162763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BASELINE · FAIL</a:t>
            </a:r>
            <a:endParaRPr/>
          </a:p>
        </p:txBody>
      </p:sp>
      <p:sp>
        <p:nvSpPr>
          <p:cNvPr id="365" name="Google Shape;365;p15"/>
          <p:cNvSpPr txBox="1"/>
          <p:nvPr/>
        </p:nvSpPr>
        <p:spPr>
          <a:xfrm>
            <a:off x="868680" y="2148840"/>
            <a:ext cx="46634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return []</a:t>
            </a:r>
            <a:br>
              <a:rPr b="0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# tests/test_task_func.py</a:t>
            </a:r>
            <a:br>
              <a:rPr b="0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import unittest</a:t>
            </a:r>
            <a:br>
              <a:rPr b="0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from task_func import task_func</a:t>
            </a:r>
            <a:endParaRPr/>
          </a:p>
        </p:txBody>
      </p:sp>
      <p:sp>
        <p:nvSpPr>
          <p:cNvPr id="366" name="Google Shape;366;p15"/>
          <p:cNvSpPr txBox="1"/>
          <p:nvPr/>
        </p:nvSpPr>
        <p:spPr>
          <a:xfrm>
            <a:off x="868680" y="4251960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plausible function body is followed by test/import contamination.</a:t>
            </a:r>
            <a:endParaRPr/>
          </a:p>
        </p:txBody>
      </p:sp>
      <p:sp>
        <p:nvSpPr>
          <p:cNvPr id="367" name="Google Shape;367;p15"/>
          <p:cNvSpPr/>
          <p:nvPr/>
        </p:nvSpPr>
        <p:spPr>
          <a:xfrm>
            <a:off x="6217920" y="1325880"/>
            <a:ext cx="5440680" cy="3566160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 cap="flat" cmpd="sng" w="9525">
            <a:solidFill>
              <a:srgbClr val="6EE7B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5"/>
          <p:cNvSpPr txBox="1"/>
          <p:nvPr/>
        </p:nvSpPr>
        <p:spPr>
          <a:xfrm>
            <a:off x="6537960" y="162763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6404 SUPPRESSION · PASS</a:t>
            </a:r>
            <a:endParaRPr/>
          </a:p>
        </p:txBody>
      </p:sp>
      <p:sp>
        <p:nvSpPr>
          <p:cNvPr id="369" name="Google Shape;369;p15"/>
          <p:cNvSpPr txBox="1"/>
          <p:nvPr/>
        </p:nvSpPr>
        <p:spPr>
          <a:xfrm>
            <a:off x="6537960" y="2148840"/>
            <a:ext cx="46634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return min_subsequence</a:t>
            </a:r>
            <a:br>
              <a:rPr b="0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# task_func({...})</a:t>
            </a:r>
            <a:br>
              <a:rPr b="0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# task_func({...})</a:t>
            </a:r>
            <a:endParaRPr/>
          </a:p>
        </p:txBody>
      </p:sp>
      <p:sp>
        <p:nvSpPr>
          <p:cNvPr id="370" name="Google Shape;370;p15"/>
          <p:cNvSpPr txBox="1"/>
          <p:nvPr/>
        </p:nvSpPr>
        <p:spPr>
          <a:xfrm>
            <a:off x="6537960" y="4251960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Official pass; no generated test module import.</a:t>
            </a:r>
            <a:endParaRPr/>
          </a:p>
        </p:txBody>
      </p:sp>
      <p:pic>
        <p:nvPicPr>
          <p:cNvPr descr="f6404_task668_trace.png" id="371" name="Google Shape;37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" y="5074920"/>
            <a:ext cx="10058400" cy="1170432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5"/>
          <p:cNvSpPr txBox="1"/>
          <p:nvPr/>
        </p:nvSpPr>
        <p:spPr>
          <a:xfrm>
            <a:off x="1828800" y="6336792"/>
            <a:ext cx="8503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Red marks: online steps where feature 6404 entered the active TopK in the steered trajectory.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6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DSTK100 · preliminary causal model diffing</a:t>
            </a:r>
            <a:endParaRPr/>
          </a:p>
        </p:txBody>
      </p:sp>
      <p:sp>
        <p:nvSpPr>
          <p:cNvPr id="379" name="Google Shape;379;p16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  <p:sp>
        <p:nvSpPr>
          <p:cNvPr id="380" name="Google Shape;380;p16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MAIN CAUSAL RESULT</a:t>
            </a:r>
            <a:endParaRPr/>
          </a:p>
        </p:txBody>
      </p:sp>
      <p:sp>
        <p:nvSpPr>
          <p:cNvPr id="381" name="Google Shape;381;p16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intervention recovered official passes—not just prettier text</a:t>
            </a:r>
            <a:endParaRPr/>
          </a:p>
        </p:txBody>
      </p:sp>
      <p:sp>
        <p:nvSpPr>
          <p:cNvPr id="382" name="Google Shape;382;p16"/>
          <p:cNvSpPr txBox="1"/>
          <p:nvPr/>
        </p:nvSpPr>
        <p:spPr>
          <a:xfrm>
            <a:off x="822960" y="1600200"/>
            <a:ext cx="4389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19 / 80</a:t>
            </a:r>
            <a:endParaRPr/>
          </a:p>
        </p:txBody>
      </p:sp>
      <p:sp>
        <p:nvSpPr>
          <p:cNvPr id="383" name="Google Shape;383;p16"/>
          <p:cNvSpPr txBox="1"/>
          <p:nvPr/>
        </p:nvSpPr>
        <p:spPr>
          <a:xfrm>
            <a:off x="822960" y="2606040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fail → official pass</a:t>
            </a:r>
            <a:endParaRPr/>
          </a:p>
        </p:txBody>
      </p:sp>
      <p:sp>
        <p:nvSpPr>
          <p:cNvPr id="384" name="Google Shape;384;p16"/>
          <p:cNvSpPr txBox="1"/>
          <p:nvPr/>
        </p:nvSpPr>
        <p:spPr>
          <a:xfrm>
            <a:off x="6400800" y="1600200"/>
            <a:ext cx="4389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41 / 80</a:t>
            </a:r>
            <a:endParaRPr/>
          </a:p>
        </p:txBody>
      </p:sp>
      <p:sp>
        <p:nvSpPr>
          <p:cNvPr id="385" name="Google Shape;385;p16"/>
          <p:cNvSpPr txBox="1"/>
          <p:nvPr/>
        </p:nvSpPr>
        <p:spPr>
          <a:xfrm>
            <a:off x="6400800" y="2606040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test/import contamination removed</a:t>
            </a:r>
            <a:endParaRPr/>
          </a:p>
        </p:txBody>
      </p:sp>
      <p:sp>
        <p:nvSpPr>
          <p:cNvPr id="386" name="Google Shape;386;p16"/>
          <p:cNvSpPr/>
          <p:nvPr/>
        </p:nvSpPr>
        <p:spPr>
          <a:xfrm>
            <a:off x="1234440" y="3794760"/>
            <a:ext cx="9738360" cy="118872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6"/>
          <p:cNvSpPr txBox="1"/>
          <p:nvPr/>
        </p:nvSpPr>
        <p:spPr>
          <a:xfrm>
            <a:off x="1600200" y="4187952"/>
            <a:ext cx="9006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α = −2   ·   TopK-gated   ·   exact code evaluated with extraction v4</a:t>
            </a:r>
            <a:endParaRPr/>
          </a:p>
        </p:txBody>
      </p:sp>
      <p:sp>
        <p:nvSpPr>
          <p:cNvPr id="388" name="Google Shape;388;p16"/>
          <p:cNvSpPr txBox="1"/>
          <p:nvPr/>
        </p:nvSpPr>
        <p:spPr>
          <a:xfrm>
            <a:off x="1828800" y="5394960"/>
            <a:ext cx="8503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Cohort selected for this mechanism; do not read 23.75% as general benchmark gain.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7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DSTK100 · preliminary causal model diffing</a:t>
            </a:r>
            <a:endParaRPr/>
          </a:p>
        </p:txBody>
      </p:sp>
      <p:sp>
        <p:nvSpPr>
          <p:cNvPr id="395" name="Google Shape;395;p17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/>
          </a:p>
        </p:txBody>
      </p:sp>
      <p:sp>
        <p:nvSpPr>
          <p:cNvPr id="396" name="Google Shape;396;p17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SPECIFICITY</a:t>
            </a:r>
            <a:endParaRPr/>
          </a:p>
        </p:txBody>
      </p:sp>
      <p:sp>
        <p:nvSpPr>
          <p:cNvPr id="397" name="Google Shape;397;p17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Matched controls isolate the 6404 direction</a:t>
            </a:r>
            <a:endParaRPr/>
          </a:p>
        </p:txBody>
      </p:sp>
      <p:pic>
        <p:nvPicPr>
          <p:cNvPr descr="matched_controls.png" id="398" name="Google Shape;39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325880"/>
            <a:ext cx="7909560" cy="4384236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17"/>
          <p:cNvSpPr/>
          <p:nvPr/>
        </p:nvSpPr>
        <p:spPr>
          <a:xfrm>
            <a:off x="8732520" y="1600200"/>
            <a:ext cx="2514600" cy="3977639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7"/>
          <p:cNvSpPr txBox="1"/>
          <p:nvPr/>
        </p:nvSpPr>
        <p:spPr>
          <a:xfrm>
            <a:off x="9052560" y="1874519"/>
            <a:ext cx="18745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Controls matched</a:t>
            </a:r>
            <a:endParaRPr/>
          </a:p>
        </p:txBody>
      </p:sp>
      <p:sp>
        <p:nvSpPr>
          <p:cNvPr id="401" name="Google Shape;401;p17"/>
          <p:cNvSpPr txBox="1"/>
          <p:nvPr/>
        </p:nvSpPr>
        <p:spPr>
          <a:xfrm>
            <a:off x="9052560" y="2395728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402" name="Google Shape;402;p17"/>
          <p:cNvSpPr txBox="1"/>
          <p:nvPr/>
        </p:nvSpPr>
        <p:spPr>
          <a:xfrm>
            <a:off x="9326880" y="2395728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decoder norm</a:t>
            </a:r>
            <a:endParaRPr/>
          </a:p>
        </p:txBody>
      </p:sp>
      <p:sp>
        <p:nvSpPr>
          <p:cNvPr id="403" name="Google Shape;403;p17"/>
          <p:cNvSpPr txBox="1"/>
          <p:nvPr/>
        </p:nvSpPr>
        <p:spPr>
          <a:xfrm>
            <a:off x="9052560" y="2898648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404" name="Google Shape;404;p17"/>
          <p:cNvSpPr txBox="1"/>
          <p:nvPr/>
        </p:nvSpPr>
        <p:spPr>
          <a:xfrm>
            <a:off x="9326880" y="2898648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activation support</a:t>
            </a:r>
            <a:endParaRPr/>
          </a:p>
        </p:txBody>
      </p:sp>
      <p:sp>
        <p:nvSpPr>
          <p:cNvPr id="405" name="Google Shape;405;p17"/>
          <p:cNvSpPr txBox="1"/>
          <p:nvPr/>
        </p:nvSpPr>
        <p:spPr>
          <a:xfrm>
            <a:off x="9052560" y="3401568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406" name="Google Shape;406;p17"/>
          <p:cNvSpPr txBox="1"/>
          <p:nvPr/>
        </p:nvSpPr>
        <p:spPr>
          <a:xfrm>
            <a:off x="9326880" y="3401568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temporal profile</a:t>
            </a:r>
            <a:endParaRPr/>
          </a:p>
        </p:txBody>
      </p:sp>
      <p:sp>
        <p:nvSpPr>
          <p:cNvPr id="407" name="Google Shape;407;p17"/>
          <p:cNvSpPr txBox="1"/>
          <p:nvPr/>
        </p:nvSpPr>
        <p:spPr>
          <a:xfrm>
            <a:off x="9052560" y="3904488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408" name="Google Shape;408;p17"/>
          <p:cNvSpPr txBox="1"/>
          <p:nvPr/>
        </p:nvSpPr>
        <p:spPr>
          <a:xfrm>
            <a:off x="9326880" y="3904488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online gate activity</a:t>
            </a:r>
            <a:endParaRPr/>
          </a:p>
        </p:txBody>
      </p:sp>
      <p:sp>
        <p:nvSpPr>
          <p:cNvPr id="409" name="Google Shape;409;p17"/>
          <p:cNvSpPr txBox="1"/>
          <p:nvPr/>
        </p:nvSpPr>
        <p:spPr>
          <a:xfrm>
            <a:off x="9052560" y="452628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vs sham</a:t>
            </a:r>
            <a:endParaRPr/>
          </a:p>
        </p:txBody>
      </p:sp>
      <p:sp>
        <p:nvSpPr>
          <p:cNvPr id="410" name="Google Shape;410;p17"/>
          <p:cNvSpPr txBox="1"/>
          <p:nvPr/>
        </p:nvSpPr>
        <p:spPr>
          <a:xfrm>
            <a:off x="9052560" y="4828032"/>
            <a:ext cx="187451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pass p ≈ 3.8×10⁻⁶</a:t>
            </a:r>
            <a:br>
              <a:rPr b="1" i="0" lang="en-US" sz="13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3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cleanup p ≈ 9.1×10⁻¹³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8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DSTK100 · preliminary causal model diffing</a:t>
            </a:r>
            <a:endParaRPr/>
          </a:p>
        </p:txBody>
      </p:sp>
      <p:sp>
        <p:nvSpPr>
          <p:cNvPr id="417" name="Google Shape;417;p18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/>
          </a:p>
        </p:txBody>
      </p:sp>
      <p:sp>
        <p:nvSpPr>
          <p:cNvPr id="418" name="Google Shape;418;p18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NON-MONOTONICITY</a:t>
            </a:r>
            <a:endParaRPr/>
          </a:p>
        </p:txBody>
      </p:sp>
      <p:sp>
        <p:nvSpPr>
          <p:cNvPr id="419" name="Google Shape;419;p18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Steering is not a volume knob</a:t>
            </a:r>
            <a:endParaRPr/>
          </a:p>
        </p:txBody>
      </p:sp>
      <p:pic>
        <p:nvPicPr>
          <p:cNvPr descr="dense_curve_redrawn.png" id="420" name="Google Shape;42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234440"/>
            <a:ext cx="8046720" cy="4465065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18"/>
          <p:cNvSpPr/>
          <p:nvPr/>
        </p:nvSpPr>
        <p:spPr>
          <a:xfrm>
            <a:off x="8915400" y="1554480"/>
            <a:ext cx="2377440" cy="4160520"/>
          </a:xfrm>
          <a:prstGeom prst="roundRect">
            <a:avLst>
              <a:gd fmla="val 16667" name="adj"/>
            </a:avLst>
          </a:prstGeom>
          <a:solidFill>
            <a:srgbClr val="FFF7ED"/>
          </a:solidFill>
          <a:ln cap="flat" cmpd="sng" w="9525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8"/>
          <p:cNvSpPr txBox="1"/>
          <p:nvPr/>
        </p:nvSpPr>
        <p:spPr>
          <a:xfrm>
            <a:off x="9217152" y="1847088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Why jagged?</a:t>
            </a:r>
            <a:endParaRPr/>
          </a:p>
        </p:txBody>
      </p:sp>
      <p:sp>
        <p:nvSpPr>
          <p:cNvPr id="423" name="Google Shape;423;p18"/>
          <p:cNvSpPr txBox="1"/>
          <p:nvPr/>
        </p:nvSpPr>
        <p:spPr>
          <a:xfrm>
            <a:off x="9217152" y="2377440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424" name="Google Shape;424;p18"/>
          <p:cNvSpPr txBox="1"/>
          <p:nvPr/>
        </p:nvSpPr>
        <p:spPr>
          <a:xfrm>
            <a:off x="9491472" y="2377440"/>
            <a:ext cx="14630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Token choice is discrete.</a:t>
            </a:r>
            <a:endParaRPr/>
          </a:p>
        </p:txBody>
      </p:sp>
      <p:sp>
        <p:nvSpPr>
          <p:cNvPr id="425" name="Google Shape;425;p18"/>
          <p:cNvSpPr txBox="1"/>
          <p:nvPr/>
        </p:nvSpPr>
        <p:spPr>
          <a:xfrm>
            <a:off x="9217152" y="2907792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426" name="Google Shape;426;p18"/>
          <p:cNvSpPr txBox="1"/>
          <p:nvPr/>
        </p:nvSpPr>
        <p:spPr>
          <a:xfrm>
            <a:off x="9491472" y="2907792"/>
            <a:ext cx="14630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One token changes the future context.</a:t>
            </a:r>
            <a:endParaRPr/>
          </a:p>
        </p:txBody>
      </p:sp>
      <p:sp>
        <p:nvSpPr>
          <p:cNvPr id="427" name="Google Shape;427;p18"/>
          <p:cNvSpPr txBox="1"/>
          <p:nvPr/>
        </p:nvSpPr>
        <p:spPr>
          <a:xfrm>
            <a:off x="9217152" y="3438144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428" name="Google Shape;428;p18"/>
          <p:cNvSpPr txBox="1"/>
          <p:nvPr/>
        </p:nvSpPr>
        <p:spPr>
          <a:xfrm>
            <a:off x="9491472" y="3438144"/>
            <a:ext cx="14630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Future gates then change.</a:t>
            </a:r>
            <a:endParaRPr/>
          </a:p>
        </p:txBody>
      </p:sp>
      <p:sp>
        <p:nvSpPr>
          <p:cNvPr id="429" name="Google Shape;429;p18"/>
          <p:cNvSpPr txBox="1"/>
          <p:nvPr/>
        </p:nvSpPr>
        <p:spPr>
          <a:xfrm>
            <a:off x="9217152" y="3968496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430" name="Google Shape;430;p18"/>
          <p:cNvSpPr txBox="1"/>
          <p:nvPr/>
        </p:nvSpPr>
        <p:spPr>
          <a:xfrm>
            <a:off x="9491472" y="3968496"/>
            <a:ext cx="14630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Pass/fail is discontinuous.</a:t>
            </a:r>
            <a:endParaRPr/>
          </a:p>
        </p:txBody>
      </p:sp>
      <p:sp>
        <p:nvSpPr>
          <p:cNvPr id="431" name="Google Shape;431;p18"/>
          <p:cNvSpPr txBox="1"/>
          <p:nvPr/>
        </p:nvSpPr>
        <p:spPr>
          <a:xfrm>
            <a:off x="9217152" y="4498848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432" name="Google Shape;432;p18"/>
          <p:cNvSpPr txBox="1"/>
          <p:nvPr/>
        </p:nvSpPr>
        <p:spPr>
          <a:xfrm>
            <a:off x="9491472" y="4498848"/>
            <a:ext cx="14630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One seed per task adds noise.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972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DIRECTIONAL IMPROVEMENT SCREENING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Base-enriched features reveal a test-generation family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7315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Aptos"/>
              </a:rPr>
              <a:t>9537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371600"/>
            <a:ext cx="13716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active fraction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399032"/>
            <a:ext cx="4839919" cy="20116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1371600"/>
            <a:ext cx="54864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ptos"/>
              </a:rPr>
              <a:t>7.90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371600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140/215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01368"/>
            <a:ext cx="7315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Aptos"/>
              </a:rPr>
              <a:t>12883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801368"/>
            <a:ext cx="13716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early max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1828800"/>
            <a:ext cx="4692883" cy="20116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1801368"/>
            <a:ext cx="54864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ptos"/>
              </a:rPr>
              <a:t>7.66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801368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139/215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7315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Aptos"/>
              </a:rPr>
              <a:t>3602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231136"/>
            <a:ext cx="13716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active fraction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2258568"/>
            <a:ext cx="4558101" cy="20116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2231136"/>
            <a:ext cx="54864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ptos"/>
              </a:rPr>
              <a:t>7.44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231136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164/215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2660904"/>
            <a:ext cx="7315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r"/>
            <a:r>
              <a:rPr sz="1100" b="1">
                <a:solidFill>
                  <a:srgbClr val="F59E0B"/>
                </a:solidFill>
                <a:latin typeface="Aptos"/>
              </a:rPr>
              <a:t>5422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2660904"/>
            <a:ext cx="13716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active fraction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40" y="2688336"/>
            <a:ext cx="4441698" cy="2011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2660904"/>
            <a:ext cx="54864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ptos"/>
              </a:rPr>
              <a:t>7.25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660904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135/215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090672"/>
            <a:ext cx="7315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Aptos"/>
              </a:rPr>
              <a:t>14295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3090672"/>
            <a:ext cx="13716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active fraction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40" y="3118103"/>
            <a:ext cx="4331421" cy="20116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0" y="3090672"/>
            <a:ext cx="54864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ptos"/>
              </a:rPr>
              <a:t>7.07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090672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156/215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3520439"/>
            <a:ext cx="7315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Aptos"/>
              </a:rPr>
              <a:t>13397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3520439"/>
            <a:ext cx="13716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active fraction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34640" y="3547871"/>
            <a:ext cx="4313041" cy="20116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0" y="3520439"/>
            <a:ext cx="54864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ptos"/>
              </a:rPr>
              <a:t>7.04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3520439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178/215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3950208"/>
            <a:ext cx="7315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Aptos"/>
              </a:rPr>
              <a:t>15916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3950208"/>
            <a:ext cx="13716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active fraction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3977640"/>
            <a:ext cx="4313041" cy="20116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0" y="3950208"/>
            <a:ext cx="54864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ptos"/>
              </a:rPr>
              <a:t>7.04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3950208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136/215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4379976"/>
            <a:ext cx="7315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Aptos"/>
              </a:rPr>
              <a:t>10168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17320" y="4379976"/>
            <a:ext cx="13716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active fraction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34640" y="4407408"/>
            <a:ext cx="4276283" cy="20116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80960" y="4379976"/>
            <a:ext cx="54864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ptos"/>
              </a:rPr>
              <a:t>6.98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4379976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156/215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4809744"/>
            <a:ext cx="7315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Aptos"/>
              </a:rPr>
              <a:t>13801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17320" y="4809744"/>
            <a:ext cx="13716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active fraction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34640" y="4837176"/>
            <a:ext cx="4251777" cy="20116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80960" y="4809744"/>
            <a:ext cx="54864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ptos"/>
              </a:rPr>
              <a:t>6.94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4809744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164/215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5239512"/>
            <a:ext cx="7315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Aptos"/>
              </a:rPr>
              <a:t>12308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5239512"/>
            <a:ext cx="13716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active fraction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834640" y="5266944"/>
            <a:ext cx="4215018" cy="20116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80960" y="5239512"/>
            <a:ext cx="54864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ptos"/>
              </a:rPr>
              <a:t>6.88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0" y="5239512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145/215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52560" y="1371600"/>
            <a:ext cx="2514600" cy="4480560"/>
          </a:xfrm>
          <a:prstGeom prst="rect">
            <a:avLst/>
          </a:prstGeom>
          <a:solidFill>
            <a:srgbClr val="FFF7ED"/>
          </a:solidFill>
          <a:ln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6880" y="1737360"/>
            <a:ext cx="196596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Aptos"/>
              </a:rPr>
              <a:t>FEATURE 5422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6880" y="2194560"/>
            <a:ext cx="1965960" cy="30175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800" b="1">
                <a:solidFill>
                  <a:srgbClr val="111827"/>
                </a:solidFill>
                <a:latin typeface="Aptos"/>
              </a:rPr>
              <a:t>#4
E/V = -7.25
135/215 base support
reverse ROC 0.644
6404: rank #989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DSTK100 - exploratory improvement-feature audit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972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ACTIVATION TIMING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5422 appears around the transition into generated tests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033772"/>
            <a:ext cx="914400" cy="178308"/>
          </a:xfrm>
          <a:prstGeom prst="rect">
            <a:avLst/>
          </a:prstGeom>
          <a:solidFill>
            <a:srgbClr val="FDBA74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759452"/>
            <a:ext cx="9144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Apto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49240"/>
            <a:ext cx="109728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ptos"/>
              </a:rPr>
              <a:t>0-10%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3726180"/>
            <a:ext cx="914400" cy="1485900"/>
          </a:xfrm>
          <a:prstGeom prst="rect">
            <a:avLst/>
          </a:prstGeom>
          <a:solidFill>
            <a:srgbClr val="FDBA74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3451860"/>
            <a:ext cx="9144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Aptos"/>
              </a:rPr>
              <a:t>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5349240"/>
            <a:ext cx="109728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ptos"/>
              </a:rPr>
              <a:t>10-25%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1883664"/>
            <a:ext cx="914400" cy="332841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609344"/>
            <a:ext cx="9144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Aptos"/>
              </a:rPr>
              <a:t>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5349240"/>
            <a:ext cx="109728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ptos"/>
              </a:rPr>
              <a:t>25-50%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4261104"/>
            <a:ext cx="914400" cy="950976"/>
          </a:xfrm>
          <a:prstGeom prst="rect">
            <a:avLst/>
          </a:prstGeom>
          <a:solidFill>
            <a:srgbClr val="FDBA74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3986784"/>
            <a:ext cx="9144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Aptos"/>
              </a:rPr>
              <a:t>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5349240"/>
            <a:ext cx="109728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ptos"/>
              </a:rPr>
              <a:t>50-75%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082796"/>
            <a:ext cx="914400" cy="1129284"/>
          </a:xfrm>
          <a:prstGeom prst="rect">
            <a:avLst/>
          </a:prstGeom>
          <a:solidFill>
            <a:srgbClr val="FDBA74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808476"/>
            <a:ext cx="9144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Aptos"/>
              </a:rPr>
              <a:t>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349240"/>
            <a:ext cx="109728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ptos"/>
              </a:rPr>
              <a:t>75-100%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06440"/>
            <a:ext cx="694944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Aptos"/>
              </a:rPr>
              <a:t>First activation among 119 contamination improvements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371600"/>
            <a:ext cx="3200400" cy="4526280"/>
          </a:xfrm>
          <a:prstGeom prst="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1783080"/>
            <a:ext cx="2468880" cy="329184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2000" b="1">
                <a:solidFill>
                  <a:srgbClr val="111827"/>
                </a:solidFill>
                <a:latin typeface="Aptos"/>
              </a:rPr>
              <a:t>39.2%
median first activation
119/119 active
3 in first 10%
28 by first 25%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5074920"/>
            <a:ext cx="2560320" cy="54864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200" b="1">
                <a:solidFill>
                  <a:srgbClr val="EF4444"/>
                </a:solidFill>
                <a:latin typeface="Aptos"/>
              </a:rPr>
              <a:t>Timing does not prove precedence to the first test marker.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DSTK100 - exploratory improvement-feature 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972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FEATURE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5422 is a literal test-module feature - not a correctness direction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71600"/>
            <a:ext cx="5760720" cy="4480560"/>
          </a:xfrm>
          <a:prstGeom prst="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502920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1">
                <a:solidFill>
                  <a:srgbClr val="06B6D4"/>
                </a:solidFill>
                <a:latin typeface="Aptos"/>
              </a:rPr>
              <a:t>HIGH-ACTIVATION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5074920" cy="21031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Aptos"/>
              </a:rPr>
              <a:t># tests/test_task_func.py
import unittest
from task_func import task_func
class TestTaskFunc(unittest.TestCase):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92040"/>
            <a:ext cx="5029200" cy="32004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400" b="1">
                <a:solidFill>
                  <a:srgbClr val="CBD5E1"/>
                </a:solidFill>
                <a:latin typeface="Aptos"/>
              </a:rPr>
              <a:t>Dominant tokens: test - tests - / - 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371600"/>
            <a:ext cx="4846320" cy="4480560"/>
          </a:xfrm>
          <a:prstGeom prst="rect">
            <a:avLst/>
          </a:prstGeom>
          <a:solidFill>
            <a:srgbClr val="FFF7ED"/>
          </a:solidFill>
          <a:ln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737360"/>
            <a:ext cx="3840480" cy="356616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2000" b="1">
                <a:solidFill>
                  <a:srgbClr val="111827"/>
                </a:solidFill>
                <a:latin typeface="Aptos"/>
              </a:rPr>
              <a:t>119/119 contaminations
vs
16/96 other improvements
Exploratory OR ~ 1,166
Strong detector; causal usefulness untested.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DSTK100 - exploratory improvement-feature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972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IMPROVEMENT TAXONOMY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BigCodeBench improvements contain distinct error mechanisms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256032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Aptos"/>
              </a:rPr>
              <a:t>Test/import contamination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7560" y="1453896"/>
            <a:ext cx="5984748" cy="21945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1417320"/>
            <a:ext cx="54864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Aptos"/>
              </a:rPr>
              <a:t>119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9384"/>
            <a:ext cx="256032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Aptos"/>
              </a:rPr>
              <a:t>Wrong output / logic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965960"/>
            <a:ext cx="2414016" cy="219456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0" y="1929384"/>
            <a:ext cx="54864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Aptos"/>
              </a:rPr>
              <a:t>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41448"/>
            <a:ext cx="256032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Aptos"/>
              </a:rPr>
              <a:t>Missing name / import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478024"/>
            <a:ext cx="804672" cy="219456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2441448"/>
            <a:ext cx="54864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Aptos"/>
              </a:rPr>
              <a:t>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953512"/>
            <a:ext cx="256032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Aptos"/>
              </a:rPr>
              <a:t>Unexpected value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2990088"/>
            <a:ext cx="452628" cy="219456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2953512"/>
            <a:ext cx="54864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Aptos"/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465576"/>
            <a:ext cx="256032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Aptos"/>
              </a:rPr>
              <a:t>Wrong type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3502152"/>
            <a:ext cx="352044" cy="219456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3465576"/>
            <a:ext cx="54864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Aptos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977640"/>
            <a:ext cx="256032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Aptos"/>
              </a:rPr>
              <a:t>Other runtime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4014216"/>
            <a:ext cx="301752" cy="219456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3977640"/>
            <a:ext cx="54864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Aptos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489704"/>
            <a:ext cx="256032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Aptos"/>
              </a:rPr>
              <a:t>Wrong API / attribute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37560" y="4526280"/>
            <a:ext cx="251460" cy="219456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4489704"/>
            <a:ext cx="54864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001768"/>
            <a:ext cx="256032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Aptos"/>
              </a:rPr>
              <a:t>Truncation / extraction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7560" y="5038344"/>
            <a:ext cx="251460" cy="219456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0" y="5001768"/>
            <a:ext cx="54864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1828800"/>
            <a:ext cx="1371600" cy="21031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700" b="1">
                <a:solidFill>
                  <a:srgbClr val="F59E0B"/>
                </a:solidFill>
                <a:latin typeface="Aptos"/>
              </a:rPr>
              <a:t>119/215 = 55.3%
Rule-based taxonomy;
manual validation required.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DSTK100 - exploratory improvement-feature audit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972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TOP-10 SEMANTICS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The negative screen decomposes generated tests into sparse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7315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353312"/>
            <a:ext cx="2286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1353312"/>
            <a:ext cx="34747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SEMANTICS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353312"/>
            <a:ext cx="128016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ACTIVE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1353312"/>
            <a:ext cx="128016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MEDIAN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682495"/>
            <a:ext cx="10789920" cy="36576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719072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ptos"/>
              </a:rPr>
              <a:t>9537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719072"/>
            <a:ext cx="2286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_, Test, import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1719072"/>
            <a:ext cx="34747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test class/function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1719072"/>
            <a:ext cx="1143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119/119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719072"/>
            <a:ext cx="109728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Aptos"/>
              </a:rPr>
              <a:t>34.2%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148839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ptos"/>
              </a:rPr>
              <a:t>12883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148839"/>
            <a:ext cx="2286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#, test, 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2148839"/>
            <a:ext cx="34747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test-block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2148839"/>
            <a:ext cx="1143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119/119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148839"/>
            <a:ext cx="109728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Aptos"/>
              </a:rPr>
              <a:t>14.2%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542032"/>
            <a:ext cx="10789920" cy="36576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2578608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ptos"/>
              </a:rPr>
              <a:t>3602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2578608"/>
            <a:ext cx="2286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task_func, import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2578608"/>
            <a:ext cx="34747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use inside tests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2578608"/>
            <a:ext cx="1143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119/119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578608"/>
            <a:ext cx="109728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Aptos"/>
              </a:rPr>
              <a:t>36.9%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008376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ptos"/>
              </a:rPr>
              <a:t>5422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3008376"/>
            <a:ext cx="2286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test, tests, /, 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3008376"/>
            <a:ext cx="34747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test-module path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3008376"/>
            <a:ext cx="1143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ptos"/>
              </a:rPr>
              <a:t>119/119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3008376"/>
            <a:ext cx="109728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Aptos"/>
              </a:rPr>
              <a:t>39.2%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401568"/>
            <a:ext cx="10789920" cy="36576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3438144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ptos"/>
              </a:rPr>
              <a:t>14295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3438144"/>
            <a:ext cx="2286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unittest, assert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6200" y="3438144"/>
            <a:ext cx="34747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unit-test scaffold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3438144"/>
            <a:ext cx="1143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118/119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3438144"/>
            <a:ext cx="109728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Aptos"/>
              </a:rPr>
              <a:t>31.6%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3867911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ptos"/>
              </a:rPr>
              <a:t>13397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63040" y="3867911"/>
            <a:ext cx="2286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task, expected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6200" y="3867911"/>
            <a:ext cx="34747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test expectations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3867911"/>
            <a:ext cx="1143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119/119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8280" y="3867911"/>
            <a:ext cx="109728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Aptos"/>
              </a:rPr>
              <a:t>32.0%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261103"/>
            <a:ext cx="10789920" cy="36576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" y="4297679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ptos"/>
              </a:rPr>
              <a:t>15916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63040" y="4297679"/>
            <a:ext cx="2286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/tests, from, src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86200" y="4297679"/>
            <a:ext cx="34747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test paths/imports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4297679"/>
            <a:ext cx="1143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114/119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98280" y="4297679"/>
            <a:ext cx="109728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Aptos"/>
              </a:rPr>
              <a:t>39.9%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4727448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ptos"/>
              </a:rPr>
              <a:t>10168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63040" y="4727448"/>
            <a:ext cx="2286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import, class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86200" y="4727448"/>
            <a:ext cx="34747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test-class creation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4727448"/>
            <a:ext cx="1143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119/119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98280" y="4727448"/>
            <a:ext cx="109728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Aptos"/>
              </a:rPr>
              <a:t>38.6%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5120640"/>
            <a:ext cx="10789920" cy="36576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8368" y="5157216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ptos"/>
              </a:rPr>
              <a:t>13801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63040" y="5157216"/>
            <a:ext cx="2286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test, assert, invalid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86200" y="5157216"/>
            <a:ext cx="34747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cases/assertions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5157216"/>
            <a:ext cx="1143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119/119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98280" y="5157216"/>
            <a:ext cx="109728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Aptos"/>
              </a:rPr>
              <a:t>39.2%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" y="5586983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ptos"/>
              </a:rPr>
              <a:t>12308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463040" y="5586983"/>
            <a:ext cx="2286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import, test, class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86200" y="5586983"/>
            <a:ext cx="34747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test scaffold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35240" y="5586983"/>
            <a:ext cx="1143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119/119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98280" y="5586983"/>
            <a:ext cx="109728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Aptos"/>
              </a:rPr>
              <a:t>39.9%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" y="6172200"/>
            <a:ext cx="1024128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200" b="1">
                <a:solidFill>
                  <a:srgbClr val="EF4444"/>
                </a:solidFill>
                <a:latin typeface="Aptos"/>
              </a:rPr>
              <a:t>Associative features, not yet causally validated directions.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DSTK100 - exploratory improvement-feature audit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7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972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TIMING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Boxplots preserve task-level dispersion across the Top 10</a:t>
            </a:r>
          </a:p>
        </p:txBody>
      </p:sp>
      <p:pic>
        <p:nvPicPr>
          <p:cNvPr id="6" name="Picture 5" descr="top10_first_activation_box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61872"/>
            <a:ext cx="7955279" cy="441959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732520" y="1417320"/>
            <a:ext cx="2560320" cy="4434840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34272" y="1737360"/>
            <a:ext cx="196596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ptos"/>
              </a:rPr>
              <a:t>HOW TO 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34272" y="2240280"/>
            <a:ext cx="1965960" cy="246888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300" b="0">
                <a:solidFill>
                  <a:srgbClr val="172033"/>
                </a:solidFill>
                <a:latin typeface="Aptos"/>
              </a:rPr>
              <a:t>Box: middle 50% of tasks
Red line: median
Whiskers: values within 1.5x IQR
Outliers hidden for readability
Only active contamination cases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34272" y="4983480"/>
            <a:ext cx="1965960" cy="54864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Aptos"/>
              </a:rPr>
              <a:t>5422 median: 39.2%
n = 119/119 active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144768"/>
            <a:ext cx="1024128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100" b="1">
                <a:solidFill>
                  <a:srgbClr val="EF4444"/>
                </a:solidFill>
                <a:latin typeface="Aptos"/>
              </a:rPr>
              <a:t>Position is measured over extraction-v4 evaluated-code tokens; it does not establish precedence to the first test marker.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DSTK100 - exploratory improvement-feature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lide_25_seman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lide_26_f3048_contr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lide_27_f13147_contr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lide_28_change_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lide_29_revised_clai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lide_23_eight_cells_by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creen_exampl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creen_exampl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screen_to_alpha3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alpha3_histo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ask_sensitivity_contr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bbasv_top10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7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